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5"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C1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2A2128-E278-4EB5-B669-8C0E5D334491}" v="3" dt="2025-05-13T14:48:45.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4660"/>
  </p:normalViewPr>
  <p:slideViewPr>
    <p:cSldViewPr snapToGrid="0">
      <p:cViewPr varScale="1">
        <p:scale>
          <a:sx n="83" d="100"/>
          <a:sy n="83" d="100"/>
        </p:scale>
        <p:origin x="15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akumar Venkatesan" userId="b0c1e2a9f2634b77" providerId="LiveId" clId="{832A2128-E278-4EB5-B669-8C0E5D334491}"/>
    <pc:docChg chg="undo custSel addSld delSld modSld">
      <pc:chgData name="Vijayakumar Venkatesan" userId="b0c1e2a9f2634b77" providerId="LiveId" clId="{832A2128-E278-4EB5-B669-8C0E5D334491}" dt="2025-05-13T14:58:48.551" v="243" actId="478"/>
      <pc:docMkLst>
        <pc:docMk/>
      </pc:docMkLst>
      <pc:sldChg chg="modSp mod">
        <pc:chgData name="Vijayakumar Venkatesan" userId="b0c1e2a9f2634b77" providerId="LiveId" clId="{832A2128-E278-4EB5-B669-8C0E5D334491}" dt="2025-05-13T14:46:35.107" v="76" actId="20577"/>
        <pc:sldMkLst>
          <pc:docMk/>
          <pc:sldMk cId="0" sldId="257"/>
        </pc:sldMkLst>
        <pc:spChg chg="mod">
          <ac:chgData name="Vijayakumar Venkatesan" userId="b0c1e2a9f2634b77" providerId="LiveId" clId="{832A2128-E278-4EB5-B669-8C0E5D334491}" dt="2025-05-13T14:46:35.107" v="76" actId="20577"/>
          <ac:spMkLst>
            <pc:docMk/>
            <pc:sldMk cId="0" sldId="257"/>
            <ac:spMk id="1048590" creationId="{00000000-0000-0000-0000-000000000000}"/>
          </ac:spMkLst>
        </pc:spChg>
      </pc:sldChg>
      <pc:sldChg chg="addSp delSp modSp mod chgLayout">
        <pc:chgData name="Vijayakumar Venkatesan" userId="b0c1e2a9f2634b77" providerId="LiveId" clId="{832A2128-E278-4EB5-B669-8C0E5D334491}" dt="2025-05-13T14:55:01.286" v="188" actId="21"/>
        <pc:sldMkLst>
          <pc:docMk/>
          <pc:sldMk cId="0" sldId="269"/>
        </pc:sldMkLst>
        <pc:spChg chg="add del mod ord">
          <ac:chgData name="Vijayakumar Venkatesan" userId="b0c1e2a9f2634b77" providerId="LiveId" clId="{832A2128-E278-4EB5-B669-8C0E5D334491}" dt="2025-05-13T14:47:20.322" v="80" actId="700"/>
          <ac:spMkLst>
            <pc:docMk/>
            <pc:sldMk cId="0" sldId="269"/>
            <ac:spMk id="2" creationId="{C370A6EA-89EA-CE90-3BA3-02682FD27859}"/>
          </ac:spMkLst>
        </pc:spChg>
        <pc:spChg chg="add del mod ord">
          <ac:chgData name="Vijayakumar Venkatesan" userId="b0c1e2a9f2634b77" providerId="LiveId" clId="{832A2128-E278-4EB5-B669-8C0E5D334491}" dt="2025-05-13T14:47:20.322" v="80" actId="700"/>
          <ac:spMkLst>
            <pc:docMk/>
            <pc:sldMk cId="0" sldId="269"/>
            <ac:spMk id="3" creationId="{81255519-030F-2CC3-D7CB-74ABE9E34D19}"/>
          </ac:spMkLst>
        </pc:spChg>
        <pc:spChg chg="mod">
          <ac:chgData name="Vijayakumar Venkatesan" userId="b0c1e2a9f2634b77" providerId="LiveId" clId="{832A2128-E278-4EB5-B669-8C0E5D334491}" dt="2025-05-13T14:55:01.286" v="188" actId="21"/>
          <ac:spMkLst>
            <pc:docMk/>
            <pc:sldMk cId="0" sldId="269"/>
            <ac:spMk id="4" creationId="{570F559D-A492-25A0-BD4E-98EEEFFD89A4}"/>
          </ac:spMkLst>
        </pc:spChg>
        <pc:spChg chg="mod">
          <ac:chgData name="Vijayakumar Venkatesan" userId="b0c1e2a9f2634b77" providerId="LiveId" clId="{832A2128-E278-4EB5-B669-8C0E5D334491}" dt="2025-05-13T14:47:54.437" v="85" actId="1076"/>
          <ac:spMkLst>
            <pc:docMk/>
            <pc:sldMk cId="0" sldId="269"/>
            <ac:spMk id="1048683" creationId="{00000000-0000-0000-0000-000000000000}"/>
          </ac:spMkLst>
        </pc:spChg>
      </pc:sldChg>
      <pc:sldChg chg="addSp delSp modSp new mod">
        <pc:chgData name="Vijayakumar Venkatesan" userId="b0c1e2a9f2634b77" providerId="LiveId" clId="{832A2128-E278-4EB5-B669-8C0E5D334491}" dt="2025-05-13T14:58:48.551" v="243" actId="478"/>
        <pc:sldMkLst>
          <pc:docMk/>
          <pc:sldMk cId="1266270789" sldId="275"/>
        </pc:sldMkLst>
        <pc:spChg chg="del">
          <ac:chgData name="Vijayakumar Venkatesan" userId="b0c1e2a9f2634b77" providerId="LiveId" clId="{832A2128-E278-4EB5-B669-8C0E5D334491}" dt="2025-05-13T14:49:26.776" v="113" actId="478"/>
          <ac:spMkLst>
            <pc:docMk/>
            <pc:sldMk cId="1266270789" sldId="275"/>
            <ac:spMk id="2" creationId="{82E7DDE4-BE08-5429-122E-9879F43D9D4B}"/>
          </ac:spMkLst>
        </pc:spChg>
        <pc:spChg chg="mod">
          <ac:chgData name="Vijayakumar Venkatesan" userId="b0c1e2a9f2634b77" providerId="LiveId" clId="{832A2128-E278-4EB5-B669-8C0E5D334491}" dt="2025-05-13T14:56:13.697" v="201" actId="20577"/>
          <ac:spMkLst>
            <pc:docMk/>
            <pc:sldMk cId="1266270789" sldId="275"/>
            <ac:spMk id="3" creationId="{000F4343-B78B-4E0A-ABA6-58F950BC557C}"/>
          </ac:spMkLst>
        </pc:spChg>
        <pc:spChg chg="del mod">
          <ac:chgData name="Vijayakumar Venkatesan" userId="b0c1e2a9f2634b77" providerId="LiveId" clId="{832A2128-E278-4EB5-B669-8C0E5D334491}" dt="2025-05-13T14:57:41.613" v="223" actId="478"/>
          <ac:spMkLst>
            <pc:docMk/>
            <pc:sldMk cId="1266270789" sldId="275"/>
            <ac:spMk id="4" creationId="{B2BA1126-D86C-4FD5-AEDA-680EAA0EB101}"/>
          </ac:spMkLst>
        </pc:spChg>
        <pc:spChg chg="del mod">
          <ac:chgData name="Vijayakumar Venkatesan" userId="b0c1e2a9f2634b77" providerId="LiveId" clId="{832A2128-E278-4EB5-B669-8C0E5D334491}" dt="2025-05-13T14:58:48.551" v="243" actId="478"/>
          <ac:spMkLst>
            <pc:docMk/>
            <pc:sldMk cId="1266270789" sldId="275"/>
            <ac:spMk id="5" creationId="{1FEED76E-9433-58CD-CCCB-48D8386EB817}"/>
          </ac:spMkLst>
        </pc:spChg>
        <pc:spChg chg="del">
          <ac:chgData name="Vijayakumar Venkatesan" userId="b0c1e2a9f2634b77" providerId="LiveId" clId="{832A2128-E278-4EB5-B669-8C0E5D334491}" dt="2025-05-13T14:57:24.920" v="219" actId="478"/>
          <ac:spMkLst>
            <pc:docMk/>
            <pc:sldMk cId="1266270789" sldId="275"/>
            <ac:spMk id="6" creationId="{45F0FF68-BED4-F47D-9467-ECAEB635D2E5}"/>
          </ac:spMkLst>
        </pc:spChg>
        <pc:spChg chg="add mod">
          <ac:chgData name="Vijayakumar Venkatesan" userId="b0c1e2a9f2634b77" providerId="LiveId" clId="{832A2128-E278-4EB5-B669-8C0E5D334491}" dt="2025-05-13T14:47:48.429" v="84"/>
          <ac:spMkLst>
            <pc:docMk/>
            <pc:sldMk cId="1266270789" sldId="275"/>
            <ac:spMk id="7" creationId="{9DE096F5-089A-19C5-8F3A-30945512499D}"/>
          </ac:spMkLst>
        </pc:spChg>
        <pc:spChg chg="add mod">
          <ac:chgData name="Vijayakumar Venkatesan" userId="b0c1e2a9f2634b77" providerId="LiveId" clId="{832A2128-E278-4EB5-B669-8C0E5D334491}" dt="2025-05-13T14:48:02.682" v="86"/>
          <ac:spMkLst>
            <pc:docMk/>
            <pc:sldMk cId="1266270789" sldId="275"/>
            <ac:spMk id="8" creationId="{31AD227A-27A8-8C2A-0322-A2D62AD4439B}"/>
          </ac:spMkLst>
        </pc:spChg>
        <pc:spChg chg="add mod">
          <ac:chgData name="Vijayakumar Venkatesan" userId="b0c1e2a9f2634b77" providerId="LiveId" clId="{832A2128-E278-4EB5-B669-8C0E5D334491}" dt="2025-05-13T14:49:13.550" v="112" actId="113"/>
          <ac:spMkLst>
            <pc:docMk/>
            <pc:sldMk cId="1266270789" sldId="275"/>
            <ac:spMk id="9" creationId="{65C2216F-3856-CD3D-7CA7-806310FC6282}"/>
          </ac:spMkLst>
        </pc:spChg>
        <pc:spChg chg="add mod">
          <ac:chgData name="Vijayakumar Venkatesan" userId="b0c1e2a9f2634b77" providerId="LiveId" clId="{832A2128-E278-4EB5-B669-8C0E5D334491}" dt="2025-05-13T14:58:28.363" v="241" actId="1076"/>
          <ac:spMkLst>
            <pc:docMk/>
            <pc:sldMk cId="1266270789" sldId="275"/>
            <ac:spMk id="11" creationId="{8C9A8FD8-33B7-02BA-D08E-69797990554E}"/>
          </ac:spMkLst>
        </pc:spChg>
      </pc:sldChg>
      <pc:sldChg chg="new del">
        <pc:chgData name="Vijayakumar Venkatesan" userId="b0c1e2a9f2634b77" providerId="LiveId" clId="{832A2128-E278-4EB5-B669-8C0E5D334491}" dt="2025-05-13T14:47:28.387" v="82" actId="680"/>
        <pc:sldMkLst>
          <pc:docMk/>
          <pc:sldMk cId="3045622627" sldId="275"/>
        </pc:sldMkLst>
      </pc:sldChg>
      <pc:sldChg chg="new del">
        <pc:chgData name="Vijayakumar Venkatesan" userId="b0c1e2a9f2634b77" providerId="LiveId" clId="{832A2128-E278-4EB5-B669-8C0E5D334491}" dt="2025-05-13T14:47:06.027" v="78" actId="47"/>
        <pc:sldMkLst>
          <pc:docMk/>
          <pc:sldMk cId="3744959563" sldId="2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CS3811-PROJECT WORK</a:t>
            </a:r>
          </a:p>
        </p:txBody>
      </p:sp>
      <p:sp>
        <p:nvSpPr>
          <p:cNvPr id="1048785"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E8FD5-1529-4BA0-8D16-8A8D7E6F421F}" type="datetime1">
              <a:rPr lang="en-US" smtClean="0"/>
              <a:t>5/13/2025</a:t>
            </a:fld>
            <a:endParaRPr lang="en-US"/>
          </a:p>
        </p:txBody>
      </p:sp>
      <p:sp>
        <p:nvSpPr>
          <p:cNvPr id="1048786"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DEPARTMENT OF CSE  </a:t>
            </a:r>
          </a:p>
        </p:txBody>
      </p:sp>
      <p:sp>
        <p:nvSpPr>
          <p:cNvPr id="1048787"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54C75B-D0DC-47C2-BF63-8942347312A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CS3811-PROJECT WORK</a:t>
            </a:r>
          </a:p>
        </p:txBody>
      </p:sp>
      <p:sp>
        <p:nvSpPr>
          <p:cNvPr id="104877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CC2F8-1DBA-49E2-AAA9-A8B1CEC12D4A}" type="datetime1">
              <a:rPr lang="en-US" smtClean="0"/>
              <a:t>5/13/2025</a:t>
            </a:fld>
            <a:endParaRPr lang="en-US"/>
          </a:p>
        </p:txBody>
      </p:sp>
      <p:sp>
        <p:nvSpPr>
          <p:cNvPr id="104878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8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DEPARTMENT OF CSE  </a:t>
            </a:r>
          </a:p>
        </p:txBody>
      </p:sp>
      <p:sp>
        <p:nvSpPr>
          <p:cNvPr id="104878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7E70B0-B29E-4879-B623-6E258A0EE00E}" type="slidenum">
              <a:rPr lang="en-US" smtClean="0"/>
              <a:t>‹#›</a:t>
            </a:fld>
            <a:endParaRPr lang="en-US"/>
          </a:p>
        </p:txBody>
      </p:sp>
    </p:spTree>
  </p:cSld>
  <p:clrMap bg1="lt1" tx1="dk1" bg2="lt2" tx2="dk2" accent1="accent1" accent2="accent2" accent3="accent3" accent4="accent4" accent5="accent5" accent6="accent6" hlink="hlink" folHlink="folHlink"/>
  <p:hf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lstStyle/>
          <a:p>
            <a:endParaRPr lang="en-US"/>
          </a:p>
        </p:txBody>
      </p:sp>
      <p:sp>
        <p:nvSpPr>
          <p:cNvPr id="1048584" name="Footer Placeholder 4"/>
          <p:cNvSpPr>
            <a:spLocks noGrp="1"/>
          </p:cNvSpPr>
          <p:nvPr>
            <p:ph type="ftr" sz="quarter" idx="11"/>
          </p:nvPr>
        </p:nvSpPr>
        <p:spPr/>
        <p:txBody>
          <a:bodyPr/>
          <a:lstStyle/>
          <a:p>
            <a:r>
              <a:rPr lang="en-US"/>
              <a:t>DEPARTMENT OF CSE                                                         DATE:</a:t>
            </a:r>
          </a:p>
        </p:txBody>
      </p:sp>
      <p:sp>
        <p:nvSpPr>
          <p:cNvPr id="1048585"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endParaRPr lang="en-IN"/>
          </a:p>
        </p:txBody>
      </p:sp>
      <p:sp>
        <p:nvSpPr>
          <p:cNvPr id="104873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36" name="Date Placeholder 3"/>
          <p:cNvSpPr>
            <a:spLocks noGrp="1"/>
          </p:cNvSpPr>
          <p:nvPr>
            <p:ph type="dt" sz="half" idx="10"/>
          </p:nvPr>
        </p:nvSpPr>
        <p:spPr/>
        <p:txBody>
          <a:bodyPr/>
          <a:lstStyle/>
          <a:p>
            <a:fld id="{B61BEF0D-F0BB-DE4B-95CE-6DB70DBA9567}" type="datetimeFigureOut">
              <a:rPr lang="en-US" smtClean="0"/>
              <a:t>5/13/2025</a:t>
            </a:fld>
            <a:endParaRPr lang="en-US" dirty="0"/>
          </a:p>
        </p:txBody>
      </p:sp>
      <p:sp>
        <p:nvSpPr>
          <p:cNvPr id="1048737" name="Footer Placeholder 4"/>
          <p:cNvSpPr>
            <a:spLocks noGrp="1"/>
          </p:cNvSpPr>
          <p:nvPr>
            <p:ph type="ftr" sz="quarter" idx="11"/>
          </p:nvPr>
        </p:nvSpPr>
        <p:spPr/>
        <p:txBody>
          <a:bodyPr/>
          <a:lstStyle/>
          <a:p>
            <a:r>
              <a:rPr lang="en-US"/>
              <a:t>DEPARTMENT OF CSE                                                         DATE:</a:t>
            </a:r>
          </a:p>
        </p:txBody>
      </p:sp>
      <p:sp>
        <p:nvSpPr>
          <p:cNvPr id="1048738"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5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751"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752" name="Date Placeholder 3"/>
          <p:cNvSpPr>
            <a:spLocks noGrp="1"/>
          </p:cNvSpPr>
          <p:nvPr>
            <p:ph type="dt" sz="half" idx="10"/>
          </p:nvPr>
        </p:nvSpPr>
        <p:spPr/>
        <p:txBody>
          <a:bodyPr/>
          <a:lstStyle/>
          <a:p>
            <a:endParaRPr lang="en-US"/>
          </a:p>
        </p:txBody>
      </p:sp>
      <p:sp>
        <p:nvSpPr>
          <p:cNvPr id="1048753" name="Footer Placeholder 4"/>
          <p:cNvSpPr>
            <a:spLocks noGrp="1"/>
          </p:cNvSpPr>
          <p:nvPr>
            <p:ph type="ftr" sz="quarter" idx="11"/>
          </p:nvPr>
        </p:nvSpPr>
        <p:spPr/>
        <p:txBody>
          <a:bodyPr/>
          <a:lstStyle/>
          <a:p>
            <a:r>
              <a:rPr lang="en-US"/>
              <a:t>DEPARTMENT OF CSE                                                         DATE:</a:t>
            </a:r>
          </a:p>
        </p:txBody>
      </p:sp>
      <p:sp>
        <p:nvSpPr>
          <p:cNvPr id="1048754"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55" name="Title 1"/>
          <p:cNvSpPr>
            <a:spLocks noGrp="1"/>
          </p:cNvSpPr>
          <p:nvPr>
            <p:ph type="title"/>
          </p:nvPr>
        </p:nvSpPr>
        <p:spPr/>
        <p:txBody>
          <a:bodyPr/>
          <a:lstStyle/>
          <a:p>
            <a:r>
              <a:rPr lang="en-US"/>
              <a:t>Click to edit Master title style</a:t>
            </a:r>
            <a:endParaRPr lang="en-IN"/>
          </a:p>
        </p:txBody>
      </p:sp>
      <p:sp>
        <p:nvSpPr>
          <p:cNvPr id="1048756"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57"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58" name="Date Placeholder 4"/>
          <p:cNvSpPr>
            <a:spLocks noGrp="1"/>
          </p:cNvSpPr>
          <p:nvPr>
            <p:ph type="dt" sz="half" idx="10"/>
          </p:nvPr>
        </p:nvSpPr>
        <p:spPr/>
        <p:txBody>
          <a:bodyPr/>
          <a:lstStyle/>
          <a:p>
            <a:endParaRPr lang="en-US"/>
          </a:p>
        </p:txBody>
      </p:sp>
      <p:sp>
        <p:nvSpPr>
          <p:cNvPr id="1048759" name="Footer Placeholder 5"/>
          <p:cNvSpPr>
            <a:spLocks noGrp="1"/>
          </p:cNvSpPr>
          <p:nvPr>
            <p:ph type="ftr" sz="quarter" idx="11"/>
          </p:nvPr>
        </p:nvSpPr>
        <p:spPr/>
        <p:txBody>
          <a:bodyPr/>
          <a:lstStyle/>
          <a:p>
            <a:r>
              <a:rPr lang="en-US"/>
              <a:t>DEPARTMENT OF CSE                                                         DATE:</a:t>
            </a:r>
          </a:p>
        </p:txBody>
      </p:sp>
      <p:sp>
        <p:nvSpPr>
          <p:cNvPr id="1048760" name="Slide Number Placeholder 6"/>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61"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762"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63"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64"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65"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66" name="Date Placeholder 6"/>
          <p:cNvSpPr>
            <a:spLocks noGrp="1"/>
          </p:cNvSpPr>
          <p:nvPr>
            <p:ph type="dt" sz="half" idx="10"/>
          </p:nvPr>
        </p:nvSpPr>
        <p:spPr/>
        <p:txBody>
          <a:bodyPr/>
          <a:lstStyle/>
          <a:p>
            <a:endParaRPr lang="en-US"/>
          </a:p>
        </p:txBody>
      </p:sp>
      <p:sp>
        <p:nvSpPr>
          <p:cNvPr id="1048767" name="Footer Placeholder 7"/>
          <p:cNvSpPr>
            <a:spLocks noGrp="1"/>
          </p:cNvSpPr>
          <p:nvPr>
            <p:ph type="ftr" sz="quarter" idx="11"/>
          </p:nvPr>
        </p:nvSpPr>
        <p:spPr/>
        <p:txBody>
          <a:bodyPr/>
          <a:lstStyle/>
          <a:p>
            <a:r>
              <a:rPr lang="en-US"/>
              <a:t>DEPARTMENT OF CSE                                                         DATE:</a:t>
            </a:r>
          </a:p>
        </p:txBody>
      </p:sp>
      <p:sp>
        <p:nvSpPr>
          <p:cNvPr id="1048768" name="Slide Number Placeholder 8"/>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endParaRPr lang="en-IN"/>
          </a:p>
        </p:txBody>
      </p:sp>
      <p:sp>
        <p:nvSpPr>
          <p:cNvPr id="1048726" name="Date Placeholder 2"/>
          <p:cNvSpPr>
            <a:spLocks noGrp="1"/>
          </p:cNvSpPr>
          <p:nvPr>
            <p:ph type="dt" sz="half" idx="10"/>
          </p:nvPr>
        </p:nvSpPr>
        <p:spPr/>
        <p:txBody>
          <a:bodyPr/>
          <a:lstStyle/>
          <a:p>
            <a:fld id="{B61BEF0D-F0BB-DE4B-95CE-6DB70DBA9567}" type="datetimeFigureOut">
              <a:rPr lang="en-US" smtClean="0"/>
              <a:t>5/13/2025</a:t>
            </a:fld>
            <a:endParaRPr lang="en-US" dirty="0"/>
          </a:p>
        </p:txBody>
      </p:sp>
      <p:sp>
        <p:nvSpPr>
          <p:cNvPr id="1048727" name="Footer Placeholder 3"/>
          <p:cNvSpPr>
            <a:spLocks noGrp="1"/>
          </p:cNvSpPr>
          <p:nvPr>
            <p:ph type="ftr" sz="quarter" idx="11"/>
          </p:nvPr>
        </p:nvSpPr>
        <p:spPr/>
        <p:txBody>
          <a:bodyPr/>
          <a:lstStyle/>
          <a:p>
            <a:r>
              <a:rPr lang="en-US"/>
              <a:t>DEPARTMENT OF CSE                                                         DATE:</a:t>
            </a:r>
          </a:p>
        </p:txBody>
      </p:sp>
      <p:sp>
        <p:nvSpPr>
          <p:cNvPr id="1048728" name="Slide Number Placeholder 4"/>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9" name="Date Placeholder 1"/>
          <p:cNvSpPr>
            <a:spLocks noGrp="1"/>
          </p:cNvSpPr>
          <p:nvPr>
            <p:ph type="dt" sz="half" idx="10"/>
          </p:nvPr>
        </p:nvSpPr>
        <p:spPr/>
        <p:txBody>
          <a:bodyPr/>
          <a:lstStyle/>
          <a:p>
            <a:fld id="{B61BEF0D-F0BB-DE4B-95CE-6DB70DBA9567}" type="datetimeFigureOut">
              <a:rPr lang="en-US" smtClean="0"/>
              <a:t>5/13/2025</a:t>
            </a:fld>
            <a:endParaRPr lang="en-US" dirty="0"/>
          </a:p>
        </p:txBody>
      </p:sp>
      <p:sp>
        <p:nvSpPr>
          <p:cNvPr id="1048770" name="Footer Placeholder 2"/>
          <p:cNvSpPr>
            <a:spLocks noGrp="1"/>
          </p:cNvSpPr>
          <p:nvPr>
            <p:ph type="ftr" sz="quarter" idx="11"/>
          </p:nvPr>
        </p:nvSpPr>
        <p:spPr/>
        <p:txBody>
          <a:bodyPr/>
          <a:lstStyle/>
          <a:p>
            <a:r>
              <a:rPr lang="en-US"/>
              <a:t>DEPARTMENT OF CSE                                                         DATE:</a:t>
            </a:r>
          </a:p>
        </p:txBody>
      </p:sp>
      <p:sp>
        <p:nvSpPr>
          <p:cNvPr id="1048771" name="Slide Number Placeholder 3"/>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7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7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7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75" name="Date Placeholder 4"/>
          <p:cNvSpPr>
            <a:spLocks noGrp="1"/>
          </p:cNvSpPr>
          <p:nvPr>
            <p:ph type="dt" sz="half" idx="10"/>
          </p:nvPr>
        </p:nvSpPr>
        <p:spPr/>
        <p:txBody>
          <a:bodyPr/>
          <a:lstStyle/>
          <a:p>
            <a:endParaRPr lang="en-US"/>
          </a:p>
        </p:txBody>
      </p:sp>
      <p:sp>
        <p:nvSpPr>
          <p:cNvPr id="1048776" name="Footer Placeholder 5"/>
          <p:cNvSpPr>
            <a:spLocks noGrp="1"/>
          </p:cNvSpPr>
          <p:nvPr>
            <p:ph type="ftr" sz="quarter" idx="11"/>
          </p:nvPr>
        </p:nvSpPr>
        <p:spPr/>
        <p:txBody>
          <a:bodyPr/>
          <a:lstStyle/>
          <a:p>
            <a:r>
              <a:rPr lang="en-US"/>
              <a:t>DEPARTMENT OF CSE                                                         DATE:</a:t>
            </a:r>
          </a:p>
        </p:txBody>
      </p:sp>
      <p:sp>
        <p:nvSpPr>
          <p:cNvPr id="1048777" name="Slide Number Placeholder 6"/>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3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40"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74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42" name="Date Placeholder 4"/>
          <p:cNvSpPr>
            <a:spLocks noGrp="1"/>
          </p:cNvSpPr>
          <p:nvPr>
            <p:ph type="dt" sz="half" idx="10"/>
          </p:nvPr>
        </p:nvSpPr>
        <p:spPr/>
        <p:txBody>
          <a:bodyPr/>
          <a:lstStyle/>
          <a:p>
            <a:endParaRPr lang="en-US"/>
          </a:p>
        </p:txBody>
      </p:sp>
      <p:sp>
        <p:nvSpPr>
          <p:cNvPr id="1048743" name="Footer Placeholder 5"/>
          <p:cNvSpPr>
            <a:spLocks noGrp="1"/>
          </p:cNvSpPr>
          <p:nvPr>
            <p:ph type="ftr" sz="quarter" idx="11"/>
          </p:nvPr>
        </p:nvSpPr>
        <p:spPr/>
        <p:txBody>
          <a:bodyPr/>
          <a:lstStyle/>
          <a:p>
            <a:r>
              <a:rPr lang="en-US"/>
              <a:t>DEPARTMENT OF CSE                                                         DATE:</a:t>
            </a:r>
          </a:p>
        </p:txBody>
      </p:sp>
      <p:sp>
        <p:nvSpPr>
          <p:cNvPr id="1048744" name="Slide Number Placeholder 6"/>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45" name="Title 1"/>
          <p:cNvSpPr>
            <a:spLocks noGrp="1"/>
          </p:cNvSpPr>
          <p:nvPr>
            <p:ph type="title"/>
          </p:nvPr>
        </p:nvSpPr>
        <p:spPr/>
        <p:txBody>
          <a:bodyPr/>
          <a:lstStyle/>
          <a:p>
            <a:r>
              <a:rPr lang="en-US"/>
              <a:t>Click to edit Master title style</a:t>
            </a:r>
            <a:endParaRPr lang="en-IN"/>
          </a:p>
        </p:txBody>
      </p:sp>
      <p:sp>
        <p:nvSpPr>
          <p:cNvPr id="104874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7" name="Date Placeholder 3"/>
          <p:cNvSpPr>
            <a:spLocks noGrp="1"/>
          </p:cNvSpPr>
          <p:nvPr>
            <p:ph type="dt" sz="half" idx="10"/>
          </p:nvPr>
        </p:nvSpPr>
        <p:spPr/>
        <p:txBody>
          <a:bodyPr/>
          <a:lstStyle/>
          <a:p>
            <a:endParaRPr lang="en-US"/>
          </a:p>
        </p:txBody>
      </p:sp>
      <p:sp>
        <p:nvSpPr>
          <p:cNvPr id="1048748" name="Footer Placeholder 4"/>
          <p:cNvSpPr>
            <a:spLocks noGrp="1"/>
          </p:cNvSpPr>
          <p:nvPr>
            <p:ph type="ftr" sz="quarter" idx="11"/>
          </p:nvPr>
        </p:nvSpPr>
        <p:spPr/>
        <p:txBody>
          <a:bodyPr/>
          <a:lstStyle/>
          <a:p>
            <a:r>
              <a:rPr lang="en-US"/>
              <a:t>DEPARTMENT OF CSE                                                         DATE:</a:t>
            </a:r>
          </a:p>
        </p:txBody>
      </p:sp>
      <p:sp>
        <p:nvSpPr>
          <p:cNvPr id="1048749"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29"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730"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31" name="Date Placeholder 3"/>
          <p:cNvSpPr>
            <a:spLocks noGrp="1"/>
          </p:cNvSpPr>
          <p:nvPr>
            <p:ph type="dt" sz="half" idx="10"/>
          </p:nvPr>
        </p:nvSpPr>
        <p:spPr/>
        <p:txBody>
          <a:bodyPr/>
          <a:lstStyle/>
          <a:p>
            <a:endParaRPr lang="en-US"/>
          </a:p>
        </p:txBody>
      </p:sp>
      <p:sp>
        <p:nvSpPr>
          <p:cNvPr id="1048732" name="Footer Placeholder 4"/>
          <p:cNvSpPr>
            <a:spLocks noGrp="1"/>
          </p:cNvSpPr>
          <p:nvPr>
            <p:ph type="ftr" sz="quarter" idx="11"/>
          </p:nvPr>
        </p:nvSpPr>
        <p:spPr/>
        <p:txBody>
          <a:bodyPr/>
          <a:lstStyle/>
          <a:p>
            <a:r>
              <a:rPr lang="en-US"/>
              <a:t>DEPARTMENT OF CSE                                                         DATE:</a:t>
            </a:r>
          </a:p>
        </p:txBody>
      </p:sp>
      <p:sp>
        <p:nvSpPr>
          <p:cNvPr id="1048733"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1048622" name="Title 1"/>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048623" name="Slide Number Placeholder 14"/>
          <p:cNvSpPr>
            <a:spLocks noGrp="1"/>
          </p:cNvSpPr>
          <p:nvPr>
            <p:ph type="sldNum" sz="quarter" idx="12"/>
          </p:nvPr>
        </p:nvSpPr>
        <p:spPr/>
        <p:txBody>
          <a:bodyPr/>
          <a:lstStyle/>
          <a:p>
            <a:fld id="{1AEA7669-B146-406D-95A0-838D355BB787}" type="slidenum">
              <a:rPr lang="en-US" smtClean="0"/>
              <a:t>‹#›</a:t>
            </a:fld>
            <a:endParaRPr lang="en-US"/>
          </a:p>
        </p:txBody>
      </p:sp>
      <p:sp>
        <p:nvSpPr>
          <p:cNvPr id="1048624" name="Content Placeholder 3"/>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625" name="Content Placeholder 5"/>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626" name="Footer Placeholder 12"/>
          <p:cNvSpPr>
            <a:spLocks noGrp="1"/>
          </p:cNvSpPr>
          <p:nvPr>
            <p:ph type="ftr" sz="quarter" idx="11"/>
          </p:nvPr>
        </p:nvSpPr>
        <p:spPr>
          <a:xfrm>
            <a:off x="1280160" y="6356350"/>
            <a:ext cx="4114800" cy="365125"/>
          </a:xfrm>
        </p:spPr>
        <p:txBody>
          <a:bodyPr/>
          <a:lstStyle>
            <a:lvl1pPr algn="l"/>
          </a:lstStyle>
          <a:p>
            <a:r>
              <a:rPr lang="en-US"/>
              <a:t>DEPARTMENT OF CSE                                                         DATE: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CSE                                                         DATE:</a:t>
            </a:r>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EA7669-B146-406D-95A0-838D355BB78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ight Triangle 5"/>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587" name="Freeform: Shape 14"/>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588" name="Subtitle 2"/>
          <p:cNvSpPr>
            <a:spLocks noGrp="1"/>
          </p:cNvSpPr>
          <p:nvPr>
            <p:ph type="subTitle" idx="1"/>
          </p:nvPr>
        </p:nvSpPr>
        <p:spPr>
          <a:xfrm>
            <a:off x="6455171" y="4035132"/>
            <a:ext cx="4129536" cy="915183"/>
          </a:xfrm>
        </p:spPr>
        <p:txBody>
          <a:bodyPr>
            <a:noAutofit/>
          </a:bodyPr>
          <a:lstStyle/>
          <a:p>
            <a:r>
              <a:rPr lang="en-US" sz="1800" b="1" dirty="0">
                <a:solidFill>
                  <a:schemeClr val="tx1"/>
                </a:solidFill>
                <a:latin typeface="Times New Roman" panose="02020603050405020304" pitchFamily="18" charset="0"/>
                <a:cs typeface="Times New Roman" panose="02020603050405020304" pitchFamily="18" charset="0"/>
              </a:rPr>
              <a:t>GUIDED BY :</a:t>
            </a:r>
          </a:p>
          <a:p>
            <a:r>
              <a:rPr lang="en-US" sz="1800" dirty="0" err="1">
                <a:latin typeface="Times New Roman" panose="02020603050405020304" pitchFamily="18" charset="0"/>
                <a:cs typeface="Times New Roman" panose="02020603050405020304" pitchFamily="18" charset="0"/>
              </a:rPr>
              <a:t>Mr.K.NEELAMEGAM</a:t>
            </a:r>
            <a:r>
              <a:rPr lang="en-US" sz="1800" dirty="0">
                <a:latin typeface="Times New Roman" panose="02020603050405020304" pitchFamily="18" charset="0"/>
                <a:cs typeface="Times New Roman" panose="02020603050405020304" pitchFamily="18" charset="0"/>
              </a:rPr>
              <a:t> M.Sc., </a:t>
            </a:r>
            <a:r>
              <a:rPr lang="en-US" sz="1800" dirty="0" err="1">
                <a:latin typeface="Times New Roman" panose="02020603050405020304" pitchFamily="18" charset="0"/>
                <a:cs typeface="Times New Roman" panose="02020603050405020304" pitchFamily="18" charset="0"/>
              </a:rPr>
              <a:t>M.Tech</a:t>
            </a:r>
            <a:r>
              <a:rPr lang="en-US" sz="1800" dirty="0">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2097152" name="Picture 6"/>
          <p:cNvPicPr>
            <a:picLocks noChangeAspect="1"/>
          </p:cNvPicPr>
          <p:nvPr/>
        </p:nvPicPr>
        <p:blipFill>
          <a:blip r:embed="rId2"/>
          <a:srcRect r="53684"/>
          <a:stretch>
            <a:fillRect/>
          </a:stretch>
        </p:blipFill>
        <p:spPr>
          <a:xfrm>
            <a:off x="674488" y="-258038"/>
            <a:ext cx="1728000" cy="2214879"/>
          </a:xfrm>
          <a:prstGeom prst="rect">
            <a:avLst/>
          </a:prstGeom>
          <a:noFill/>
          <a:effectLst>
            <a:softEdge rad="0"/>
          </a:effectLst>
        </p:spPr>
      </p:pic>
      <p:sp>
        <p:nvSpPr>
          <p:cNvPr id="1048589" name="Rectangle 24"/>
          <p:cNvSpPr/>
          <p:nvPr/>
        </p:nvSpPr>
        <p:spPr>
          <a:xfrm>
            <a:off x="-71360" y="6534834"/>
            <a:ext cx="12486968"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DEPARTMENT OF CSE                                                                                                                              </a:t>
            </a:r>
            <a:r>
              <a:rPr lang="en-US" b="1" dirty="0">
                <a:latin typeface="Times New Roman" panose="02020603050405020304" pitchFamily="18" charset="0"/>
                <a:ea typeface="Tahoma" panose="020B0604030504040204" pitchFamily="34" charset="0"/>
                <a:cs typeface="Times New Roman" panose="02020603050405020304" pitchFamily="18" charset="0"/>
              </a:rPr>
              <a:t>14/05/2025</a:t>
            </a:r>
          </a:p>
          <a:p>
            <a:endParaRPr lang="en-US" dirty="0"/>
          </a:p>
        </p:txBody>
      </p:sp>
      <p:sp>
        <p:nvSpPr>
          <p:cNvPr id="1048590" name="Rectangle 4"/>
          <p:cNvSpPr/>
          <p:nvPr/>
        </p:nvSpPr>
        <p:spPr>
          <a:xfrm>
            <a:off x="1610448" y="2211245"/>
            <a:ext cx="9123352" cy="12177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New Roman" panose="02020603050405020304" pitchFamily="18" charset="0"/>
                <a:cs typeface="Times New Roman" panose="02020603050405020304" pitchFamily="18" charset="0"/>
              </a:rPr>
              <a:t>ANTI MONEY LAUNDERING SYSTEM IN CRYPTOCURRENCY USIGN AI&amp;ML</a:t>
            </a:r>
          </a:p>
        </p:txBody>
      </p:sp>
      <p:pic>
        <p:nvPicPr>
          <p:cNvPr id="2097153" name="Picture 11"/>
          <p:cNvPicPr>
            <a:picLocks noChangeArrowheads="1"/>
          </p:cNvPicPr>
          <p:nvPr/>
        </p:nvPicPr>
        <p:blipFill>
          <a:blip r:embed="rId3" cstate="print"/>
          <a:srcRect/>
          <a:stretch>
            <a:fillRect/>
          </a:stretch>
        </p:blipFill>
        <p:spPr bwMode="auto">
          <a:xfrm>
            <a:off x="9431884" y="101623"/>
            <a:ext cx="1562100" cy="1449255"/>
          </a:xfrm>
          <a:prstGeom prst="rect">
            <a:avLst/>
          </a:prstGeom>
          <a:noFill/>
          <a:ln>
            <a:noFill/>
          </a:ln>
        </p:spPr>
      </p:pic>
      <p:sp>
        <p:nvSpPr>
          <p:cNvPr id="1048591" name="TextBox 1"/>
          <p:cNvSpPr txBox="1"/>
          <p:nvPr/>
        </p:nvSpPr>
        <p:spPr>
          <a:xfrm>
            <a:off x="562708" y="3795763"/>
            <a:ext cx="5533292"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BATCH NO:14</a:t>
            </a:r>
          </a:p>
          <a:p>
            <a:r>
              <a:rPr lang="en-US" altLang="en-GB" dirty="0">
                <a:latin typeface="Times New Roman" panose="02020603050405020304" pitchFamily="18" charset="0"/>
                <a:cs typeface="Times New Roman" panose="02020603050405020304" pitchFamily="18" charset="0"/>
              </a:rPr>
              <a:t>PRESENTED BY:</a:t>
            </a:r>
            <a:endParaRPr lang="zh-CN" altLang="en-US" dirty="0"/>
          </a:p>
          <a:p>
            <a:r>
              <a:rPr lang="en-US" dirty="0">
                <a:latin typeface="Times New Roman" panose="02020603050405020304" pitchFamily="18" charset="0"/>
                <a:cs typeface="Times New Roman" panose="02020603050405020304" pitchFamily="18" charset="0"/>
              </a:rPr>
              <a:t>NAME: S.STANLY</a:t>
            </a:r>
            <a:r>
              <a:rPr lang="en-IN" dirty="0">
                <a:latin typeface="Times New Roman" panose="02020603050405020304" pitchFamily="18" charset="0"/>
                <a:cs typeface="Times New Roman" panose="02020603050405020304" pitchFamily="18" charset="0"/>
              </a:rPr>
              <a:t>                REG NO:510421104098       </a:t>
            </a:r>
          </a:p>
          <a:p>
            <a:r>
              <a:rPr lang="en-IN" dirty="0">
                <a:latin typeface="Times New Roman" panose="02020603050405020304" pitchFamily="18" charset="0"/>
                <a:cs typeface="Times New Roman" panose="02020603050405020304" pitchFamily="18" charset="0"/>
              </a:rPr>
              <a:t>NAME: S.SUBRAMANI	REG NO:510421104100</a:t>
            </a:r>
          </a:p>
          <a:p>
            <a:r>
              <a:rPr lang="en-IN" dirty="0">
                <a:latin typeface="Times New Roman" panose="02020603050405020304" pitchFamily="18" charset="0"/>
                <a:cs typeface="Times New Roman" panose="02020603050405020304" pitchFamily="18" charset="0"/>
              </a:rPr>
              <a:t>NAME: S.SUDHARSHAN   REG NO:510421104102</a:t>
            </a:r>
          </a:p>
          <a:p>
            <a:r>
              <a:rPr lang="en-IN" dirty="0">
                <a:latin typeface="Times New Roman" panose="02020603050405020304" pitchFamily="18" charset="0"/>
                <a:cs typeface="Times New Roman" panose="02020603050405020304" pitchFamily="18" charset="0"/>
              </a:rPr>
              <a:t>NAME: V.VIJAYAKUMAR  REG NO:510421104116</a:t>
            </a:r>
            <a:endParaRPr lang="en-US" dirty="0">
              <a:latin typeface="Times New Roman" panose="02020603050405020304" pitchFamily="18" charset="0"/>
              <a:cs typeface="Times New Roman" panose="02020603050405020304" pitchFamily="18" charset="0"/>
            </a:endParaRPr>
          </a:p>
        </p:txBody>
      </p:sp>
      <p:pic>
        <p:nvPicPr>
          <p:cNvPr id="2097154" name="Picture 2"/>
          <p:cNvPicPr>
            <a:picLocks noChangeAspect="1"/>
          </p:cNvPicPr>
          <p:nvPr/>
        </p:nvPicPr>
        <p:blipFill>
          <a:blip r:embed="rId4"/>
          <a:srcRect/>
          <a:stretch>
            <a:fillRect/>
          </a:stretch>
        </p:blipFill>
        <p:spPr bwMode="auto">
          <a:xfrm>
            <a:off x="2280212" y="-12929"/>
            <a:ext cx="6840638" cy="18574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Right Triangle 4"/>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93" name="Freeform: Shape 5"/>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594" name="Title 1"/>
          <p:cNvSpPr>
            <a:spLocks noGrp="1"/>
          </p:cNvSpPr>
          <p:nvPr>
            <p:ph type="ctrTitle"/>
          </p:nvPr>
        </p:nvSpPr>
        <p:spPr>
          <a:xfrm>
            <a:off x="0" y="0"/>
            <a:ext cx="12192000" cy="1061884"/>
          </a:xfrm>
          <a:noFill/>
        </p:spPr>
        <p:txBody>
          <a:bodyPr/>
          <a:lstStyle/>
          <a:p>
            <a:pPr algn="ctr"/>
            <a:r>
              <a:rPr lang="en-US" sz="4000" dirty="0">
                <a:solidFill>
                  <a:schemeClr val="tx1"/>
                </a:solidFill>
                <a:latin typeface="Times New Roman" panose="02020603050405020304" pitchFamily="18" charset="0"/>
                <a:cs typeface="Times New Roman" panose="02020603050405020304" pitchFamily="18" charset="0"/>
              </a:rPr>
              <a:t>AGENDA </a:t>
            </a:r>
          </a:p>
        </p:txBody>
      </p:sp>
      <p:sp>
        <p:nvSpPr>
          <p:cNvPr id="1048595" name="Subtitle 2"/>
          <p:cNvSpPr>
            <a:spLocks noGrp="1"/>
          </p:cNvSpPr>
          <p:nvPr>
            <p:ph type="subTitle" idx="1"/>
          </p:nvPr>
        </p:nvSpPr>
        <p:spPr>
          <a:xfrm>
            <a:off x="716472" y="1061884"/>
            <a:ext cx="10302237" cy="397191"/>
          </a:xfrm>
        </p:spPr>
        <p:txBody>
          <a:bodyPr>
            <a:noAutofit/>
          </a:bodyPr>
          <a:lstStyle/>
          <a:p>
            <a:pPr marL="342900" indent="-342900" algn="just">
              <a:lnSpc>
                <a:spcPct val="50000"/>
              </a:lnSpc>
              <a:buFont typeface="Wingdings" panose="05000000000000000000" pitchFamily="2" charset="2"/>
              <a:buChar char="Ø"/>
            </a:pPr>
            <a:endPar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Abstract</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Introduction</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Problem Statement</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Literature Survey</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Extract of Literature Survey</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Existing System </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Proposed System</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Methodology</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Tools and Technologies</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System Architecture</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Module Description</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Challenges and Limitations</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Future scope</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References</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Conclusion</a:t>
            </a:r>
          </a:p>
        </p:txBody>
      </p:sp>
      <p:cxnSp>
        <p:nvCxnSpPr>
          <p:cNvPr id="3145728" name="Straight Connector 4"/>
          <p:cNvCxnSpPr>
            <a:cxnSpLocks/>
          </p:cNvCxnSpPr>
          <p:nvPr/>
        </p:nvCxnSpPr>
        <p:spPr>
          <a:xfrm>
            <a:off x="176981" y="963561"/>
            <a:ext cx="11857703" cy="983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48596" name="TextBox 11"/>
          <p:cNvSpPr txBox="1"/>
          <p:nvPr/>
        </p:nvSpPr>
        <p:spPr>
          <a:xfrm>
            <a:off x="585996" y="259518"/>
            <a:ext cx="2834640" cy="615553"/>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CS3811-PROJECT WORK</a:t>
            </a:r>
          </a:p>
          <a:p>
            <a:endParaRPr lang="en-US" dirty="0">
              <a:latin typeface="Times New Roman" panose="02020603050405020304" pitchFamily="18" charset="0"/>
              <a:cs typeface="Times New Roman" panose="02020603050405020304" pitchFamily="18" charset="0"/>
            </a:endParaRPr>
          </a:p>
        </p:txBody>
      </p:sp>
      <p:sp>
        <p:nvSpPr>
          <p:cNvPr id="1048597" name="TextBox 13"/>
          <p:cNvSpPr txBox="1"/>
          <p:nvPr/>
        </p:nvSpPr>
        <p:spPr>
          <a:xfrm>
            <a:off x="-1" y="6410960"/>
            <a:ext cx="12595123" cy="89154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DEPARTMENT OF CSE                                                                                                                             </a:t>
            </a:r>
            <a:r>
              <a:rPr lang="en-US" b="1" dirty="0"/>
              <a:t>14/05/2025</a:t>
            </a:r>
          </a:p>
          <a:p>
            <a:endParaRPr lang="en-US" b="1"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99"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00" name="Rectangle 5"/>
          <p:cNvSpPr/>
          <p:nvPr/>
        </p:nvSpPr>
        <p:spPr>
          <a:xfrm>
            <a:off x="585996" y="451429"/>
            <a:ext cx="2414379" cy="3344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03" name="TextBox 3"/>
          <p:cNvSpPr txBox="1"/>
          <p:nvPr/>
        </p:nvSpPr>
        <p:spPr>
          <a:xfrm>
            <a:off x="729028" y="369332"/>
            <a:ext cx="227134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ABSTRACT</a:t>
            </a:r>
          </a:p>
        </p:txBody>
      </p:sp>
      <p:sp>
        <p:nvSpPr>
          <p:cNvPr id="1048604" name="Rectangle 4"/>
          <p:cNvSpPr/>
          <p:nvPr/>
        </p:nvSpPr>
        <p:spPr>
          <a:xfrm>
            <a:off x="-1" y="6511208"/>
            <a:ext cx="14148619" cy="89154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DEPARTMENT OF CSE                                                                                                                             </a:t>
            </a:r>
            <a:r>
              <a:rPr lang="en-US" b="1" dirty="0"/>
              <a:t>14/05/2025</a:t>
            </a:r>
          </a:p>
          <a:p>
            <a:endParaRPr lang="en-US" b="1" dirty="0"/>
          </a:p>
          <a:p>
            <a:endParaRPr lang="en-US" dirty="0"/>
          </a:p>
        </p:txBody>
      </p:sp>
      <p:sp>
        <p:nvSpPr>
          <p:cNvPr id="1048605" name="TextBox 6"/>
          <p:cNvSpPr txBox="1"/>
          <p:nvPr/>
        </p:nvSpPr>
        <p:spPr>
          <a:xfrm>
            <a:off x="585996" y="82097"/>
            <a:ext cx="343145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CS3811-PROJECT WORK</a:t>
            </a:r>
          </a:p>
        </p:txBody>
      </p:sp>
      <p:sp>
        <p:nvSpPr>
          <p:cNvPr id="3" name="TextBox 2">
            <a:extLst>
              <a:ext uri="{FF2B5EF4-FFF2-40B4-BE49-F238E27FC236}">
                <a16:creationId xmlns:a16="http://schemas.microsoft.com/office/drawing/2014/main" id="{796E5DD8-921B-21AD-F716-C95C0CA088AC}"/>
              </a:ext>
            </a:extLst>
          </p:cNvPr>
          <p:cNvSpPr txBox="1"/>
          <p:nvPr/>
        </p:nvSpPr>
        <p:spPr>
          <a:xfrm>
            <a:off x="655782" y="988291"/>
            <a:ext cx="10520217" cy="4801314"/>
          </a:xfrm>
          <a:prstGeom prst="rect">
            <a:avLst/>
          </a:prstGeom>
          <a:noFill/>
        </p:spPr>
        <p:txBody>
          <a:bodyPr wrap="square" rtlCol="0">
            <a:spAutoFit/>
          </a:bodyPr>
          <a:lstStyle/>
          <a:p>
            <a:r>
              <a:rPr lang="en-US" dirty="0"/>
              <a:t>Money laundering poses a significant threat to global financial systems, enabling criminals to disguise illicitly obtained funds as legitimate income. Its detection remains an ongoing challenge for law enforcement agencies, especially as financial transactions increasingly shift toward complex digital ecosystems, including cryptocurrency. Traditional methods of detecting money laundering, such as </a:t>
            </a:r>
            <a:r>
              <a:rPr lang="en-US" dirty="0" err="1"/>
              <a:t>rulebased</a:t>
            </a:r>
            <a:r>
              <a:rPr lang="en-US" dirty="0"/>
              <a:t> systems and manual audits, are proving to be inadequate in the face of sophisticated laundering techniques and the sheer volume of transactions. This project proposes the development of an AI and machine learning-based Anti-Money Laundering (AML) system designed to meet these modern challenges. The system integrates advanced cryptographic techniques to ensure data privacy and integrity while enhancing the accuracy and efficiency of detecting illicit financial transactions. Machine learning algorithms—such as anomaly detection, clustering, and classification—are employed to analyze large-scale transaction data, identify hidden patterns, and predict anomalies that may indicate money laundering activities. The system also incorporates real-time monitoring capabilities to flag suspicious activities promptly, enabling quicker response and intervention. By combining the strengths of artificial intelligence, machine learning, and cryptography, the proposed AML system significantly improves detection and prevention mechanisms. This hybrid approach not only enhances regulatory compliance but also provides a scalable and adaptive framework that can evolve alongside emerging financial technologies. The project aims to contribute to the global fight against financial crime by offering a robust, intelligent solution capable of mitigating risks and safeguarding the integrity of financial systems.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Right Triangle 1"/>
          <p:cNvSpPr/>
          <p:nvPr/>
        </p:nvSpPr>
        <p:spPr>
          <a:xfrm rot="11211921">
            <a:off x="-553181" y="-39667"/>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07"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08" name="Rectangle 5"/>
          <p:cNvSpPr/>
          <p:nvPr/>
        </p:nvSpPr>
        <p:spPr>
          <a:xfrm>
            <a:off x="729028" y="451429"/>
            <a:ext cx="2747598" cy="3765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1" name="TextBox 3"/>
          <p:cNvSpPr txBox="1"/>
          <p:nvPr/>
        </p:nvSpPr>
        <p:spPr>
          <a:xfrm>
            <a:off x="729028" y="369332"/>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p>
        </p:txBody>
      </p:sp>
      <p:sp>
        <p:nvSpPr>
          <p:cNvPr id="1048612" name="Rectangle 4"/>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1048613" name="TextBox 6"/>
          <p:cNvSpPr txBox="1"/>
          <p:nvPr/>
        </p:nvSpPr>
        <p:spPr>
          <a:xfrm>
            <a:off x="585996" y="59525"/>
            <a:ext cx="3431459" cy="369332"/>
          </a:xfrm>
          <a:prstGeom prst="rect">
            <a:avLst/>
          </a:prstGeom>
          <a:noFill/>
        </p:spPr>
        <p:txBody>
          <a:bodyPr wrap="square" rtlCol="0">
            <a:spAutoFit/>
          </a:bodyPr>
          <a:lstStyle/>
          <a:p>
            <a:r>
              <a:rPr lang="en-US" b="1" dirty="0"/>
              <a:t>CS3811-PROJECT WORK</a:t>
            </a:r>
          </a:p>
        </p:txBody>
      </p:sp>
      <p:sp>
        <p:nvSpPr>
          <p:cNvPr id="2" name="TextBox 1">
            <a:extLst>
              <a:ext uri="{FF2B5EF4-FFF2-40B4-BE49-F238E27FC236}">
                <a16:creationId xmlns:a16="http://schemas.microsoft.com/office/drawing/2014/main" id="{AADDCFD0-182E-6452-90C6-F5F39C6BA705}"/>
              </a:ext>
            </a:extLst>
          </p:cNvPr>
          <p:cNvSpPr txBox="1"/>
          <p:nvPr/>
        </p:nvSpPr>
        <p:spPr>
          <a:xfrm>
            <a:off x="1089891" y="1246909"/>
            <a:ext cx="7718780" cy="4613058"/>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Cryptocurrencies: decentralized, fast, and pseudonymous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Criminals exploit crypto to hide illegal money flows.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AML tools can't track decentralized networks.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AI/ML offer automation, learning, and anomaly detection.</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Cryptography ensures secure handling of financial data.</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Growing need for tech-driven AML tools in blockchain systems.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Government and financial bodies push for improved crypto regulation.</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15"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16" name="Rectangle 7"/>
          <p:cNvSpPr/>
          <p:nvPr/>
        </p:nvSpPr>
        <p:spPr>
          <a:xfrm>
            <a:off x="661235" y="699490"/>
            <a:ext cx="3605966" cy="39719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17" name="Title 1"/>
          <p:cNvSpPr>
            <a:spLocks noGrp="1"/>
          </p:cNvSpPr>
          <p:nvPr>
            <p:ph type="ctrTitle"/>
          </p:nvPr>
        </p:nvSpPr>
        <p:spPr>
          <a:xfrm>
            <a:off x="1280159" y="3487029"/>
            <a:ext cx="10302240" cy="1852046"/>
          </a:xfrm>
        </p:spPr>
        <p:txBody>
          <a:bodyPr/>
          <a:lstStyle/>
          <a:p>
            <a:r>
              <a:rPr lang="en-US" dirty="0"/>
              <a:t> </a:t>
            </a:r>
          </a:p>
        </p:txBody>
      </p:sp>
      <p:sp>
        <p:nvSpPr>
          <p:cNvPr id="1048619" name="TextBox 12"/>
          <p:cNvSpPr txBox="1"/>
          <p:nvPr/>
        </p:nvSpPr>
        <p:spPr>
          <a:xfrm>
            <a:off x="585995" y="616359"/>
            <a:ext cx="612883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STATEMENT</a:t>
            </a:r>
          </a:p>
        </p:txBody>
      </p:sp>
      <p:sp>
        <p:nvSpPr>
          <p:cNvPr id="1048620" name="TextBox 6"/>
          <p:cNvSpPr txBox="1"/>
          <p:nvPr/>
        </p:nvSpPr>
        <p:spPr>
          <a:xfrm>
            <a:off x="585996" y="247027"/>
            <a:ext cx="3431459" cy="369332"/>
          </a:xfrm>
          <a:prstGeom prst="rect">
            <a:avLst/>
          </a:prstGeom>
          <a:noFill/>
        </p:spPr>
        <p:txBody>
          <a:bodyPr wrap="square" rtlCol="0">
            <a:spAutoFit/>
          </a:bodyPr>
          <a:lstStyle/>
          <a:p>
            <a:r>
              <a:rPr lang="en-US" b="1" dirty="0"/>
              <a:t>CS3811-PROJECT WORK</a:t>
            </a:r>
          </a:p>
        </p:txBody>
      </p:sp>
      <p:sp>
        <p:nvSpPr>
          <p:cNvPr id="1048621" name="Rectangle 9"/>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TextBox 1">
            <a:extLst>
              <a:ext uri="{FF2B5EF4-FFF2-40B4-BE49-F238E27FC236}">
                <a16:creationId xmlns:a16="http://schemas.microsoft.com/office/drawing/2014/main" id="{49B07197-5DF7-D451-603F-17BB4ED1EC3C}"/>
              </a:ext>
            </a:extLst>
          </p:cNvPr>
          <p:cNvSpPr txBox="1"/>
          <p:nvPr/>
        </p:nvSpPr>
        <p:spPr>
          <a:xfrm>
            <a:off x="1440873" y="1357745"/>
            <a:ext cx="7314823" cy="492295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AML systems are rule-based and static.</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Crypto transactions are anonymous and decentralized.</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systems cannot scale with transaction volume.</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laundering detection is currently ineffective.</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Complex methods like smurfing and chain-hopping go undetected.</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blockchain integration in legacy AML tools.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Global nature of crypto complicates jurisdiction and compliance.</a:t>
            </a:r>
          </a:p>
          <a:p>
            <a:pPr marL="285750" indent="-28575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28"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29" name="Rectangle 8"/>
          <p:cNvSpPr/>
          <p:nvPr/>
        </p:nvSpPr>
        <p:spPr>
          <a:xfrm>
            <a:off x="585996" y="741645"/>
            <a:ext cx="3909804"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30" name="Slide Number Placeholder 6"/>
          <p:cNvSpPr>
            <a:spLocks noGrp="1"/>
          </p:cNvSpPr>
          <p:nvPr>
            <p:ph type="sldNum" sz="quarter" idx="12"/>
          </p:nvPr>
        </p:nvSpPr>
        <p:spPr>
          <a:xfrm>
            <a:off x="-1061564" y="346197"/>
            <a:ext cx="4052155" cy="264198"/>
          </a:xfrm>
        </p:spPr>
        <p:txBody>
          <a:bodyPr/>
          <a:lstStyle/>
          <a:p>
            <a:r>
              <a:rPr lang="en-US" sz="1800" b="1" dirty="0">
                <a:solidFill>
                  <a:schemeClr val="tx1"/>
                </a:solidFill>
              </a:rPr>
              <a:t>CS3811-PROJECT WORK</a:t>
            </a:r>
          </a:p>
        </p:txBody>
      </p:sp>
      <p:sp>
        <p:nvSpPr>
          <p:cNvPr id="1048632" name="TextBox 3"/>
          <p:cNvSpPr txBox="1"/>
          <p:nvPr/>
        </p:nvSpPr>
        <p:spPr>
          <a:xfrm>
            <a:off x="623259" y="546001"/>
            <a:ext cx="5497497" cy="70788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LITERATURE</a:t>
            </a:r>
            <a:r>
              <a:rPr lang="en-US" sz="4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SURVEY</a:t>
            </a:r>
          </a:p>
        </p:txBody>
      </p:sp>
      <p:sp>
        <p:nvSpPr>
          <p:cNvPr id="1048633" name="Rectangle 10"/>
          <p:cNvSpPr/>
          <p:nvPr/>
        </p:nvSpPr>
        <p:spPr>
          <a:xfrm>
            <a:off x="-1" y="6502064"/>
            <a:ext cx="14148619" cy="891540"/>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Content Placeholder 1">
            <a:extLst>
              <a:ext uri="{FF2B5EF4-FFF2-40B4-BE49-F238E27FC236}">
                <a16:creationId xmlns:a16="http://schemas.microsoft.com/office/drawing/2014/main" id="{3B0E5FC4-CE85-1ED1-528E-A3F2E553D112}"/>
              </a:ext>
            </a:extLst>
          </p:cNvPr>
          <p:cNvSpPr>
            <a:spLocks noGrp="1" noChangeArrowheads="1"/>
          </p:cNvSpPr>
          <p:nvPr>
            <p:ph sz="half" idx="2"/>
          </p:nvPr>
        </p:nvSpPr>
        <p:spPr bwMode="auto">
          <a:xfrm>
            <a:off x="1484366" y="1387041"/>
            <a:ext cx="6542560" cy="4307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Shazia Nawaz:</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clustering and regression for AML.</a:t>
            </a:r>
          </a:p>
          <a:p>
            <a:pPr marL="0" marR="0" lvl="0" indent="0" algn="l" defTabSz="914400" rtl="0" eaLnBrk="0" fontAlgn="base" latinLnBrk="0" hangingPunct="0">
              <a:lnSpc>
                <a:spcPct val="200000"/>
              </a:lnSpc>
              <a:spcBef>
                <a:spcPct val="0"/>
              </a:spcBef>
              <a:spcAft>
                <a:spcPct val="0"/>
              </a:spcAft>
              <a:buClrTx/>
              <a:buSzTx/>
              <a:buFontTx/>
              <a:buChar char="•"/>
              <a:tabLst/>
            </a:pPr>
            <a:r>
              <a:rPr lang="en-US" sz="2000" b="1" dirty="0">
                <a:latin typeface="Times New Roman" panose="02020603050405020304" pitchFamily="18" charset="0"/>
                <a:cs typeface="Times New Roman" panose="02020603050405020304" pitchFamily="18" charset="0"/>
              </a:rPr>
              <a:t>Shih et al.:</a:t>
            </a:r>
            <a:r>
              <a:rPr lang="en-US" sz="2000" dirty="0">
                <a:latin typeface="Times New Roman" panose="02020603050405020304" pitchFamily="18" charset="0"/>
                <a:cs typeface="Times New Roman" panose="02020603050405020304" pitchFamily="18" charset="0"/>
              </a:rPr>
              <a:t> ML models outperform rule-based AML.</a:t>
            </a:r>
          </a:p>
          <a:p>
            <a:pPr marL="0" marR="0" lvl="0" indent="0" algn="l" defTabSz="914400" rtl="0" eaLnBrk="0" fontAlgn="base" latinLnBrk="0" hangingPunct="0">
              <a:lnSpc>
                <a:spcPct val="200000"/>
              </a:lnSpc>
              <a:spcBef>
                <a:spcPct val="0"/>
              </a:spcBef>
              <a:spcAft>
                <a:spcPct val="0"/>
              </a:spcAft>
              <a:buClrTx/>
              <a:buSzTx/>
              <a:buFontTx/>
              <a:buChar char="•"/>
              <a:tabLst/>
            </a:pPr>
            <a:r>
              <a:rPr lang="en-US" sz="2000" b="1" dirty="0">
                <a:latin typeface="Times New Roman" panose="02020603050405020304" pitchFamily="18" charset="0"/>
                <a:cs typeface="Times New Roman" panose="02020603050405020304" pitchFamily="18" charset="0"/>
              </a:rPr>
              <a:t>Zhang et al.:</a:t>
            </a:r>
            <a:r>
              <a:rPr lang="en-US" sz="2000" dirty="0">
                <a:latin typeface="Times New Roman" panose="02020603050405020304" pitchFamily="18" charset="0"/>
                <a:cs typeface="Times New Roman" panose="02020603050405020304" pitchFamily="18" charset="0"/>
              </a:rPr>
              <a:t> Blockchain and cryptography for AML.</a:t>
            </a:r>
          </a:p>
          <a:p>
            <a:pPr marL="0" marR="0" lvl="0" indent="0" algn="l" defTabSz="914400" rtl="0" eaLnBrk="0" fontAlgn="base" latinLnBrk="0" hangingPunct="0">
              <a:lnSpc>
                <a:spcPct val="200000"/>
              </a:lnSpc>
              <a:spcBef>
                <a:spcPct val="0"/>
              </a:spcBef>
              <a:spcAft>
                <a:spcPct val="0"/>
              </a:spcAft>
              <a:buClrTx/>
              <a:buSzTx/>
              <a:buFontTx/>
              <a:buChar char="•"/>
              <a:tabLst/>
            </a:pPr>
            <a:r>
              <a:rPr lang="en-US" sz="2000" b="1" dirty="0">
                <a:latin typeface="Times New Roman" panose="02020603050405020304" pitchFamily="18" charset="0"/>
                <a:cs typeface="Times New Roman" panose="02020603050405020304" pitchFamily="18" charset="0"/>
              </a:rPr>
              <a:t>Liao et al.:</a:t>
            </a:r>
            <a:r>
              <a:rPr lang="en-US" sz="2000" dirty="0">
                <a:latin typeface="Times New Roman" panose="02020603050405020304" pitchFamily="18" charset="0"/>
                <a:cs typeface="Times New Roman" panose="02020603050405020304" pitchFamily="18" charset="0"/>
              </a:rPr>
              <a:t> Neural networks for predicting illicit flows.</a:t>
            </a:r>
          </a:p>
          <a:p>
            <a:pPr marL="0" marR="0" lvl="0" indent="0" algn="l" defTabSz="914400" rtl="0" eaLnBrk="0" fontAlgn="base" latinLnBrk="0" hangingPunct="0">
              <a:lnSpc>
                <a:spcPct val="200000"/>
              </a:lnSpc>
              <a:spcBef>
                <a:spcPct val="0"/>
              </a:spcBef>
              <a:spcAft>
                <a:spcPct val="0"/>
              </a:spcAft>
              <a:buClrTx/>
              <a:buSzTx/>
              <a:buFontTx/>
              <a:buChar char="•"/>
              <a:tabLst/>
            </a:pPr>
            <a:r>
              <a:rPr lang="en-US" sz="2000" dirty="0">
                <a:latin typeface="Times New Roman" panose="02020603050405020304" pitchFamily="18" charset="0"/>
                <a:cs typeface="Times New Roman" panose="02020603050405020304" pitchFamily="18" charset="0"/>
              </a:rPr>
              <a:t>FATF guidelines recommend advanced tech in AML.</a:t>
            </a:r>
          </a:p>
          <a:p>
            <a:pPr marL="0" marR="0" lvl="0" indent="0" algn="l" defTabSz="914400" rtl="0" eaLnBrk="0" fontAlgn="base" latinLnBrk="0" hangingPunct="0">
              <a:lnSpc>
                <a:spcPct val="200000"/>
              </a:lnSpc>
              <a:spcBef>
                <a:spcPct val="0"/>
              </a:spcBef>
              <a:spcAft>
                <a:spcPct val="0"/>
              </a:spcAft>
              <a:buClrTx/>
              <a:buSzTx/>
              <a:buFontTx/>
              <a:buChar char="•"/>
              <a:tabLst/>
            </a:pPr>
            <a:r>
              <a:rPr lang="en-US" sz="2000" dirty="0">
                <a:latin typeface="Times New Roman" panose="02020603050405020304" pitchFamily="18" charset="0"/>
                <a:cs typeface="Times New Roman" panose="02020603050405020304" pitchFamily="18" charset="0"/>
              </a:rPr>
              <a:t>AML solutions with hybrid models showed better accuracy.</a:t>
            </a:r>
          </a:p>
          <a:p>
            <a:pPr marL="0" marR="0" lvl="0" indent="0" algn="l" defTabSz="914400" rtl="0" eaLnBrk="0" fontAlgn="base" latinLnBrk="0" hangingPunct="0">
              <a:lnSpc>
                <a:spcPct val="200000"/>
              </a:lnSpc>
              <a:spcBef>
                <a:spcPct val="0"/>
              </a:spcBef>
              <a:spcAft>
                <a:spcPct val="0"/>
              </a:spcAft>
              <a:buClrTx/>
              <a:buSzTx/>
              <a:buFontTx/>
              <a:buChar char="•"/>
              <a:tabLst/>
            </a:pPr>
            <a:r>
              <a:rPr lang="en-US" sz="2000" dirty="0">
                <a:latin typeface="Times New Roman" panose="02020603050405020304" pitchFamily="18" charset="0"/>
                <a:cs typeface="Times New Roman" panose="02020603050405020304" pitchFamily="18" charset="0"/>
              </a:rPr>
              <a:t>Real-time systems emphasized for actionable AML response.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35"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36" name="Rectangle 8"/>
          <p:cNvSpPr/>
          <p:nvPr/>
        </p:nvSpPr>
        <p:spPr>
          <a:xfrm>
            <a:off x="585996" y="741645"/>
            <a:ext cx="5595729"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37" name="Title 1"/>
          <p:cNvSpPr>
            <a:spLocks noGrp="1"/>
          </p:cNvSpPr>
          <p:nvPr>
            <p:ph type="title"/>
          </p:nvPr>
        </p:nvSpPr>
        <p:spPr/>
        <p:txBody>
          <a:bodyPr/>
          <a:lstStyle/>
          <a:p>
            <a:r>
              <a:rPr lang="en-US" dirty="0"/>
              <a:t> </a:t>
            </a:r>
          </a:p>
        </p:txBody>
      </p:sp>
      <p:sp>
        <p:nvSpPr>
          <p:cNvPr id="1048638" name="Slide Number Placeholder 6"/>
          <p:cNvSpPr>
            <a:spLocks noGrp="1"/>
          </p:cNvSpPr>
          <p:nvPr>
            <p:ph type="sldNum" sz="quarter" idx="12"/>
          </p:nvPr>
        </p:nvSpPr>
        <p:spPr>
          <a:xfrm>
            <a:off x="-1109189" y="329435"/>
            <a:ext cx="4052155" cy="240180"/>
          </a:xfrm>
        </p:spPr>
        <p:txBody>
          <a:bodyPr/>
          <a:lstStyle/>
          <a:p>
            <a:r>
              <a:rPr lang="en-US" sz="1800" b="1" dirty="0">
                <a:solidFill>
                  <a:schemeClr val="tx1"/>
                </a:solidFill>
              </a:rPr>
              <a:t>CS3811-PROJECT WORK</a:t>
            </a:r>
          </a:p>
        </p:txBody>
      </p:sp>
      <p:sp>
        <p:nvSpPr>
          <p:cNvPr id="1048639" name="Subtitle 2"/>
          <p:cNvSpPr>
            <a:spLocks noGrp="1"/>
          </p:cNvSpPr>
          <p:nvPr>
            <p:ph sz="half" idx="2"/>
          </p:nvPr>
        </p:nvSpPr>
        <p:spPr>
          <a:xfrm>
            <a:off x="866394" y="1642995"/>
            <a:ext cx="10883958" cy="4040574"/>
          </a:xfrm>
        </p:spPr>
        <p:txBody>
          <a:bodyPr>
            <a:no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Common ML methods: Random Forest, KNN,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Blockchain enables transparent yet pseudonymous tracking.</a:t>
            </a:r>
          </a:p>
          <a:p>
            <a:pPr marL="342900" indent="-342900">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showed high accuracy for crypto transaction fraud.</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Graph-based tools help visualize laundering networks.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Hybrid models outperform single algorithm systems.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Labeled data improves accuracy, but availability is low.</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Time-sequencing helps detect repeated laundering behaviors.</a:t>
            </a:r>
          </a:p>
        </p:txBody>
      </p:sp>
      <p:sp>
        <p:nvSpPr>
          <p:cNvPr id="1048640" name="TextBox 3"/>
          <p:cNvSpPr txBox="1"/>
          <p:nvPr/>
        </p:nvSpPr>
        <p:spPr>
          <a:xfrm>
            <a:off x="598503" y="685800"/>
            <a:ext cx="58403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EXTRACT OF LITERATURE SURVEY</a:t>
            </a:r>
          </a:p>
        </p:txBody>
      </p:sp>
      <p:sp>
        <p:nvSpPr>
          <p:cNvPr id="1048641" name="Rectangle 10"/>
          <p:cNvSpPr/>
          <p:nvPr/>
        </p:nvSpPr>
        <p:spPr>
          <a:xfrm>
            <a:off x="-1" y="6502064"/>
            <a:ext cx="14148619" cy="891540"/>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Right Triangle 1"/>
          <p:cNvSpPr/>
          <p:nvPr/>
        </p:nvSpPr>
        <p:spPr>
          <a:xfrm rot="11211921">
            <a:off x="-376745" y="-94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43"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44" name="Rectangle 7"/>
          <p:cNvSpPr/>
          <p:nvPr/>
        </p:nvSpPr>
        <p:spPr>
          <a:xfrm>
            <a:off x="962775" y="517805"/>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45" name="Title 1"/>
          <p:cNvSpPr>
            <a:spLocks noGrp="1"/>
          </p:cNvSpPr>
          <p:nvPr>
            <p:ph type="ctrTitle"/>
          </p:nvPr>
        </p:nvSpPr>
        <p:spPr/>
        <p:txBody>
          <a:bodyPr/>
          <a:lstStyle/>
          <a:p>
            <a:r>
              <a:rPr lang="en-US" dirty="0"/>
              <a:t> </a:t>
            </a:r>
          </a:p>
        </p:txBody>
      </p:sp>
      <p:sp>
        <p:nvSpPr>
          <p:cNvPr id="1048647" name="TextBox 5"/>
          <p:cNvSpPr txBox="1"/>
          <p:nvPr/>
        </p:nvSpPr>
        <p:spPr>
          <a:xfrm>
            <a:off x="1380869" y="557164"/>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EXISTING SYSTEM</a:t>
            </a:r>
          </a:p>
        </p:txBody>
      </p:sp>
      <p:sp>
        <p:nvSpPr>
          <p:cNvPr id="1048648" name="TextBox 12"/>
          <p:cNvSpPr txBox="1"/>
          <p:nvPr/>
        </p:nvSpPr>
        <p:spPr>
          <a:xfrm>
            <a:off x="852696" y="54175"/>
            <a:ext cx="3431459" cy="369332"/>
          </a:xfrm>
          <a:prstGeom prst="rect">
            <a:avLst/>
          </a:prstGeom>
          <a:noFill/>
        </p:spPr>
        <p:txBody>
          <a:bodyPr wrap="square" rtlCol="0">
            <a:spAutoFit/>
          </a:bodyPr>
          <a:lstStyle/>
          <a:p>
            <a:r>
              <a:rPr lang="en-US" b="1" dirty="0"/>
              <a:t>CS3811-PROJECT WORK</a:t>
            </a:r>
          </a:p>
        </p:txBody>
      </p:sp>
      <p:sp>
        <p:nvSpPr>
          <p:cNvPr id="1048649"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TextBox 1">
            <a:extLst>
              <a:ext uri="{FF2B5EF4-FFF2-40B4-BE49-F238E27FC236}">
                <a16:creationId xmlns:a16="http://schemas.microsoft.com/office/drawing/2014/main" id="{FCDF002B-C343-154E-F5D4-6928819B897D}"/>
              </a:ext>
            </a:extLst>
          </p:cNvPr>
          <p:cNvSpPr txBox="1"/>
          <p:nvPr/>
        </p:nvSpPr>
        <p:spPr>
          <a:xfrm>
            <a:off x="1634836" y="1561408"/>
            <a:ext cx="8183418" cy="430739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Based on static rules like fixed thresholds.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Cannot detect evolving laundering techniques.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false positive rate leads to alert fatigue.</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Requires human intervention to verify anomalies.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Designed for centralized fiat systems, not blockchain.</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visualization or pattern tracking capabilities.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learning or adaptability for new laundering trends.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51"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52" name="Rectangle 7"/>
          <p:cNvSpPr/>
          <p:nvPr/>
        </p:nvSpPr>
        <p:spPr>
          <a:xfrm>
            <a:off x="759069" y="466127"/>
            <a:ext cx="41558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55" name="TextBox 5"/>
          <p:cNvSpPr txBox="1"/>
          <p:nvPr/>
        </p:nvSpPr>
        <p:spPr>
          <a:xfrm>
            <a:off x="861874" y="501498"/>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SYSTEM</a:t>
            </a:r>
          </a:p>
        </p:txBody>
      </p:sp>
      <p:sp>
        <p:nvSpPr>
          <p:cNvPr id="1048656" name="TextBox 12"/>
          <p:cNvSpPr txBox="1"/>
          <p:nvPr/>
        </p:nvSpPr>
        <p:spPr>
          <a:xfrm>
            <a:off x="1170600" y="49687"/>
            <a:ext cx="3431459" cy="369332"/>
          </a:xfrm>
          <a:prstGeom prst="rect">
            <a:avLst/>
          </a:prstGeom>
          <a:noFill/>
        </p:spPr>
        <p:txBody>
          <a:bodyPr wrap="square" rtlCol="0">
            <a:spAutoFit/>
          </a:bodyPr>
          <a:lstStyle/>
          <a:p>
            <a:r>
              <a:rPr lang="en-US" b="1" dirty="0"/>
              <a:t>CS3811-PROJECT WORK</a:t>
            </a:r>
          </a:p>
        </p:txBody>
      </p:sp>
      <p:sp>
        <p:nvSpPr>
          <p:cNvPr id="1048657"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TextBox 1">
            <a:extLst>
              <a:ext uri="{FF2B5EF4-FFF2-40B4-BE49-F238E27FC236}">
                <a16:creationId xmlns:a16="http://schemas.microsoft.com/office/drawing/2014/main" id="{28F84265-7CF3-0428-9D52-61D496A0EF8D}"/>
              </a:ext>
            </a:extLst>
          </p:cNvPr>
          <p:cNvSpPr txBox="1"/>
          <p:nvPr/>
        </p:nvSpPr>
        <p:spPr>
          <a:xfrm>
            <a:off x="1524000" y="1551709"/>
            <a:ext cx="6457858" cy="4307398"/>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Employs AI/ML for pattern recognition in real-time.</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anomaly detection to flag suspicious activity.</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Cryptographic hashing ensures transaction data integrity.</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 mapping of smurfing and circular laundering paths.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adapts and learns from new transaction trends.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Blockchain-compatible and scalable to large datasets.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Alert system integrated with dashboard for insights.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59"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60" name="Rectangle 7"/>
          <p:cNvSpPr/>
          <p:nvPr/>
        </p:nvSpPr>
        <p:spPr>
          <a:xfrm>
            <a:off x="861874" y="483839"/>
            <a:ext cx="364345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63" name="TextBox 5"/>
          <p:cNvSpPr txBox="1"/>
          <p:nvPr/>
        </p:nvSpPr>
        <p:spPr>
          <a:xfrm>
            <a:off x="985185" y="523966"/>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METHODOLOGY</a:t>
            </a:r>
          </a:p>
        </p:txBody>
      </p:sp>
      <p:sp>
        <p:nvSpPr>
          <p:cNvPr id="1048664" name="TextBox 12"/>
          <p:cNvSpPr txBox="1"/>
          <p:nvPr/>
        </p:nvSpPr>
        <p:spPr>
          <a:xfrm>
            <a:off x="985185" y="114507"/>
            <a:ext cx="3431459" cy="369332"/>
          </a:xfrm>
          <a:prstGeom prst="rect">
            <a:avLst/>
          </a:prstGeom>
          <a:noFill/>
        </p:spPr>
        <p:txBody>
          <a:bodyPr wrap="square" rtlCol="0">
            <a:spAutoFit/>
          </a:bodyPr>
          <a:lstStyle/>
          <a:p>
            <a:r>
              <a:rPr lang="en-US" b="1"/>
              <a:t>CS3811-PROJECT WORK</a:t>
            </a:r>
            <a:endParaRPr lang="en-US" b="1" dirty="0"/>
          </a:p>
        </p:txBody>
      </p:sp>
      <p:sp>
        <p:nvSpPr>
          <p:cNvPr id="1048665"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3" name="TextBox 2">
            <a:extLst>
              <a:ext uri="{FF2B5EF4-FFF2-40B4-BE49-F238E27FC236}">
                <a16:creationId xmlns:a16="http://schemas.microsoft.com/office/drawing/2014/main" id="{5889F887-9C3C-9715-E0B4-D2812CD75B56}"/>
              </a:ext>
            </a:extLst>
          </p:cNvPr>
          <p:cNvSpPr txBox="1"/>
          <p:nvPr/>
        </p:nvSpPr>
        <p:spPr>
          <a:xfrm>
            <a:off x="1959429" y="1670180"/>
            <a:ext cx="6556603" cy="4307398"/>
          </a:xfrm>
          <a:prstGeom prst="rect">
            <a:avLst/>
          </a:prstGeom>
          <a:noFill/>
        </p:spPr>
        <p:txBody>
          <a:bodyPr wrap="none" rtlCol="0">
            <a:spAutoFit/>
          </a:bodyPr>
          <a:lstStyle/>
          <a:p>
            <a:pPr marL="342900" indent="-342900">
              <a:lnSpc>
                <a:spcPct val="200000"/>
              </a:lnSpc>
              <a:buFont typeface="+mj-lt"/>
              <a:buAutoNum type="arabicPeriod"/>
            </a:pPr>
            <a:r>
              <a:rPr lang="en-US" sz="2000" b="1" dirty="0">
                <a:latin typeface="Times New Roman" panose="02020603050405020304" pitchFamily="18" charset="0"/>
                <a:cs typeface="Times New Roman" panose="02020603050405020304" pitchFamily="18" charset="0"/>
              </a:rPr>
              <a:t>Data Collection</a:t>
            </a:r>
            <a:r>
              <a:rPr lang="en-US" sz="2000" dirty="0">
                <a:latin typeface="Times New Roman" panose="02020603050405020304" pitchFamily="18" charset="0"/>
                <a:cs typeface="Times New Roman" panose="02020603050405020304" pitchFamily="18" charset="0"/>
              </a:rPr>
              <a:t> – Crypto exchange &amp; blockchain data.</a:t>
            </a:r>
          </a:p>
          <a:p>
            <a:pPr marL="342900" indent="-342900">
              <a:lnSpc>
                <a:spcPct val="200000"/>
              </a:lnSpc>
              <a:buFont typeface="+mj-lt"/>
              <a:buAutoNum type="arabicPeriod"/>
            </a:pPr>
            <a:r>
              <a:rPr lang="en-IN" sz="2000" b="1" dirty="0">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 Remove duplicates, normalize data.</a:t>
            </a:r>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mj-lt"/>
              <a:buAutoNum type="arabicPeriod"/>
            </a:pPr>
            <a:r>
              <a:rPr lang="en-US" sz="2000" b="1" dirty="0">
                <a:latin typeface="Times New Roman" panose="02020603050405020304" pitchFamily="18" charset="0"/>
                <a:cs typeface="Times New Roman" panose="02020603050405020304" pitchFamily="18" charset="0"/>
              </a:rPr>
              <a:t>Feature Extraction</a:t>
            </a:r>
            <a:r>
              <a:rPr lang="en-US" sz="2000" dirty="0">
                <a:latin typeface="Times New Roman" panose="02020603050405020304" pitchFamily="18" charset="0"/>
                <a:cs typeface="Times New Roman" panose="02020603050405020304" pitchFamily="18" charset="0"/>
              </a:rPr>
              <a:t> – Analyze transaction behavior.</a:t>
            </a:r>
          </a:p>
          <a:p>
            <a:pPr marL="342900" indent="-342900">
              <a:lnSpc>
                <a:spcPct val="200000"/>
              </a:lnSpc>
              <a:buFont typeface="+mj-lt"/>
              <a:buAutoNum type="arabicPeriod"/>
            </a:pPr>
            <a:r>
              <a:rPr lang="en-US" sz="2000" b="1" dirty="0">
                <a:latin typeface="Times New Roman" panose="02020603050405020304" pitchFamily="18" charset="0"/>
                <a:cs typeface="Times New Roman" panose="02020603050405020304" pitchFamily="18" charset="0"/>
              </a:rPr>
              <a:t>Model Training</a:t>
            </a:r>
            <a:r>
              <a:rPr lang="en-US" sz="2000" dirty="0">
                <a:latin typeface="Times New Roman" panose="02020603050405020304" pitchFamily="18" charset="0"/>
                <a:cs typeface="Times New Roman" panose="02020603050405020304" pitchFamily="18" charset="0"/>
              </a:rPr>
              <a:t> – ML models trained on labeled data.</a:t>
            </a:r>
          </a:p>
          <a:p>
            <a:pPr marL="342900" indent="-342900">
              <a:lnSpc>
                <a:spcPct val="200000"/>
              </a:lnSpc>
              <a:buFont typeface="+mj-lt"/>
              <a:buAutoNum type="arabicPeriod"/>
            </a:pPr>
            <a:r>
              <a:rPr lang="en-IN" sz="2000" b="1" dirty="0">
                <a:latin typeface="Times New Roman" panose="02020603050405020304" pitchFamily="18" charset="0"/>
                <a:cs typeface="Times New Roman" panose="02020603050405020304" pitchFamily="18" charset="0"/>
              </a:rPr>
              <a:t>Anomaly Detection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Unusual </a:t>
            </a:r>
            <a:r>
              <a:rPr lang="en-US" sz="2000" dirty="0" err="1">
                <a:latin typeface="Times New Roman" panose="02020603050405020304" pitchFamily="18" charset="0"/>
                <a:cs typeface="Times New Roman" panose="02020603050405020304" pitchFamily="18" charset="0"/>
              </a:rPr>
              <a:t>behaviours</a:t>
            </a:r>
            <a:r>
              <a:rPr lang="en-US" sz="2000" dirty="0">
                <a:latin typeface="Times New Roman" panose="02020603050405020304" pitchFamily="18" charset="0"/>
                <a:cs typeface="Times New Roman" panose="02020603050405020304" pitchFamily="18" charset="0"/>
              </a:rPr>
              <a:t> are flagged</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&amp; Visualize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Real-time dashboard + alerts.</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lang="en-US" sz="2000" b="1" dirty="0">
                <a:latin typeface="Times New Roman" panose="02020603050405020304" pitchFamily="18" charset="0"/>
                <a:cs typeface="Times New Roman" panose="02020603050405020304" pitchFamily="18" charset="0"/>
              </a:rPr>
              <a:t>Cryptographic Check</a:t>
            </a:r>
            <a:r>
              <a:rPr lang="en-US" sz="2000" dirty="0">
                <a:latin typeface="Times New Roman" panose="02020603050405020304" pitchFamily="18" charset="0"/>
                <a:cs typeface="Times New Roman" panose="02020603050405020304" pitchFamily="18" charset="0"/>
              </a:rPr>
              <a:t> – Integrity maintained via hashing.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67"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68" name="Rectangle 7"/>
          <p:cNvSpPr/>
          <p:nvPr/>
        </p:nvSpPr>
        <p:spPr>
          <a:xfrm>
            <a:off x="696783" y="464029"/>
            <a:ext cx="4895633"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71" name="TextBox 5"/>
          <p:cNvSpPr txBox="1"/>
          <p:nvPr/>
        </p:nvSpPr>
        <p:spPr>
          <a:xfrm>
            <a:off x="753444" y="497301"/>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TOOLS AND TECHNOLOGIES</a:t>
            </a:r>
          </a:p>
        </p:txBody>
      </p:sp>
      <p:sp>
        <p:nvSpPr>
          <p:cNvPr id="1048672" name="TextBox 12"/>
          <p:cNvSpPr txBox="1"/>
          <p:nvPr/>
        </p:nvSpPr>
        <p:spPr>
          <a:xfrm>
            <a:off x="585996" y="96766"/>
            <a:ext cx="3431459" cy="369332"/>
          </a:xfrm>
          <a:prstGeom prst="rect">
            <a:avLst/>
          </a:prstGeom>
          <a:noFill/>
        </p:spPr>
        <p:txBody>
          <a:bodyPr wrap="square" rtlCol="0">
            <a:spAutoFit/>
          </a:bodyPr>
          <a:lstStyle/>
          <a:p>
            <a:r>
              <a:rPr lang="en-US" b="1" dirty="0"/>
              <a:t>CS3811-PROJECT WORK</a:t>
            </a:r>
          </a:p>
        </p:txBody>
      </p:sp>
      <p:sp>
        <p:nvSpPr>
          <p:cNvPr id="1048673"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TextBox 1">
            <a:extLst>
              <a:ext uri="{FF2B5EF4-FFF2-40B4-BE49-F238E27FC236}">
                <a16:creationId xmlns:a16="http://schemas.microsoft.com/office/drawing/2014/main" id="{4FD65CFE-6450-11E1-8108-E4F6A66D0FE9}"/>
              </a:ext>
            </a:extLst>
          </p:cNvPr>
          <p:cNvSpPr txBox="1"/>
          <p:nvPr/>
        </p:nvSpPr>
        <p:spPr>
          <a:xfrm>
            <a:off x="1523999" y="1626887"/>
            <a:ext cx="6714837" cy="430739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Language:</a:t>
            </a:r>
            <a:r>
              <a:rPr lang="en-IN" sz="2000" dirty="0">
                <a:latin typeface="Times New Roman" panose="02020603050405020304" pitchFamily="18" charset="0"/>
                <a:cs typeface="Times New Roman" panose="02020603050405020304" pitchFamily="18" charset="0"/>
              </a:rPr>
              <a:t> Python 3.10</a:t>
            </a:r>
            <a:endParaRPr lang="en-US" sz="20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ML Libraries:</a:t>
            </a:r>
            <a:r>
              <a:rPr lang="en-US" sz="2000" dirty="0">
                <a:latin typeface="Times New Roman" panose="02020603050405020304" pitchFamily="18" charset="0"/>
                <a:cs typeface="Times New Roman" panose="02020603050405020304" pitchFamily="18" charset="0"/>
              </a:rPr>
              <a:t> Scikit-learn, TensorFlow, </a:t>
            </a:r>
            <a:r>
              <a:rPr lang="en-US" sz="2000" dirty="0" err="1">
                <a:latin typeface="Times New Roman" panose="02020603050405020304" pitchFamily="18" charset="0"/>
                <a:cs typeface="Times New Roman" panose="02020603050405020304" pitchFamily="18" charset="0"/>
              </a:rPr>
              <a:t>XGBoost</a:t>
            </a:r>
            <a:endParaRPr lang="en-US" sz="20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Graph &amp; Visualization: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NetworkX</a:t>
            </a:r>
            <a:r>
              <a:rPr lang="en-IN" sz="2000" dirty="0">
                <a:latin typeface="Times New Roman" panose="02020603050405020304" pitchFamily="18" charset="0"/>
                <a:cs typeface="Times New Roman" panose="02020603050405020304" pitchFamily="18" charset="0"/>
              </a:rPr>
              <a:t>, Matplotlib</a:t>
            </a:r>
            <a:endParaRPr lang="en-US" sz="20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Cryptography:</a:t>
            </a:r>
            <a:r>
              <a:rPr lang="en-IN" sz="2000" dirty="0">
                <a:latin typeface="Times New Roman" panose="02020603050405020304" pitchFamily="18" charset="0"/>
                <a:cs typeface="Times New Roman" panose="02020603050405020304" pitchFamily="18" charset="0"/>
              </a:rPr>
              <a:t> RSA, SHA-256 hashing</a:t>
            </a:r>
          </a:p>
          <a:p>
            <a:pPr marL="285750" indent="-285750">
              <a:lnSpc>
                <a:spcPct val="20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Framework:</a:t>
            </a:r>
            <a:r>
              <a:rPr lang="en-IN" sz="2000" dirty="0">
                <a:latin typeface="Times New Roman" panose="02020603050405020304" pitchFamily="18" charset="0"/>
                <a:cs typeface="Times New Roman" panose="02020603050405020304" pitchFamily="18" charset="0"/>
              </a:rPr>
              <a:t> Flask for backend integration</a:t>
            </a:r>
          </a:p>
          <a:p>
            <a:pPr marL="285750" indent="-285750">
              <a:lnSpc>
                <a:spcPct val="20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IDE:</a:t>
            </a:r>
            <a:r>
              <a:rPr lang="en-IN" sz="2000" dirty="0">
                <a:latin typeface="Times New Roman" panose="02020603050405020304" pitchFamily="18" charset="0"/>
                <a:cs typeface="Times New Roman" panose="02020603050405020304" pitchFamily="18" charset="0"/>
              </a:rPr>
              <a:t> PyCharm</a:t>
            </a:r>
          </a:p>
          <a:p>
            <a:pPr marL="285750" indent="-285750">
              <a:lnSpc>
                <a:spcPct val="20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 Platform:</a:t>
            </a:r>
            <a:r>
              <a:rPr lang="en-US" sz="2000" dirty="0">
                <a:latin typeface="Times New Roman" panose="02020603050405020304" pitchFamily="18" charset="0"/>
                <a:cs typeface="Times New Roman" panose="02020603050405020304" pitchFamily="18" charset="0"/>
              </a:rPr>
              <a:t> CSV + blockchain explorer APIs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75"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76" name="Rectangle 7"/>
          <p:cNvSpPr/>
          <p:nvPr/>
        </p:nvSpPr>
        <p:spPr>
          <a:xfrm>
            <a:off x="585996" y="457454"/>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9" name="TextBox 5"/>
          <p:cNvSpPr txBox="1"/>
          <p:nvPr/>
        </p:nvSpPr>
        <p:spPr>
          <a:xfrm>
            <a:off x="786339" y="484152"/>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SYSTEM ARCHITECTURE</a:t>
            </a:r>
          </a:p>
        </p:txBody>
      </p:sp>
      <p:sp>
        <p:nvSpPr>
          <p:cNvPr id="1048680" name="TextBox 12"/>
          <p:cNvSpPr txBox="1"/>
          <p:nvPr/>
        </p:nvSpPr>
        <p:spPr>
          <a:xfrm>
            <a:off x="514349" y="74693"/>
            <a:ext cx="3431459" cy="369332"/>
          </a:xfrm>
          <a:prstGeom prst="rect">
            <a:avLst/>
          </a:prstGeom>
          <a:noFill/>
        </p:spPr>
        <p:txBody>
          <a:bodyPr wrap="square" rtlCol="0">
            <a:spAutoFit/>
          </a:bodyPr>
          <a:lstStyle/>
          <a:p>
            <a:r>
              <a:rPr lang="en-US" b="1" dirty="0"/>
              <a:t>CS3811-PROJECT WORK</a:t>
            </a:r>
          </a:p>
        </p:txBody>
      </p:sp>
      <p:sp>
        <p:nvSpPr>
          <p:cNvPr id="1048681"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pic>
        <p:nvPicPr>
          <p:cNvPr id="3" name="Picture 2" descr="A diagram of a system&#10;&#10;AI-generated content may be incorrect.">
            <a:extLst>
              <a:ext uri="{FF2B5EF4-FFF2-40B4-BE49-F238E27FC236}">
                <a16:creationId xmlns:a16="http://schemas.microsoft.com/office/drawing/2014/main" id="{02A3A0A5-07F5-2DA4-C65C-227467BAAC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4260" y="1299613"/>
            <a:ext cx="6534859" cy="49460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83" name="Freeform: Shape 2"/>
          <p:cNvSpPr/>
          <p:nvPr/>
        </p:nvSpPr>
        <p:spPr>
          <a:xfrm rot="10800000">
            <a:off x="10971869" y="-2592"/>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84"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7" name="TextBox 5"/>
          <p:cNvSpPr txBox="1"/>
          <p:nvPr/>
        </p:nvSpPr>
        <p:spPr>
          <a:xfrm>
            <a:off x="968521" y="508914"/>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MODULE DESCRIPTION</a:t>
            </a:r>
          </a:p>
        </p:txBody>
      </p:sp>
      <p:sp>
        <p:nvSpPr>
          <p:cNvPr id="1048688"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89"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4" name="TextBox 3">
            <a:extLst>
              <a:ext uri="{FF2B5EF4-FFF2-40B4-BE49-F238E27FC236}">
                <a16:creationId xmlns:a16="http://schemas.microsoft.com/office/drawing/2014/main" id="{570F559D-A492-25A0-BD4E-98EEEFFD89A4}"/>
              </a:ext>
            </a:extLst>
          </p:cNvPr>
          <p:cNvSpPr txBox="1"/>
          <p:nvPr/>
        </p:nvSpPr>
        <p:spPr>
          <a:xfrm>
            <a:off x="849745" y="1302327"/>
            <a:ext cx="9956799" cy="5201424"/>
          </a:xfrm>
          <a:prstGeom prst="rect">
            <a:avLst/>
          </a:prstGeom>
          <a:noFill/>
        </p:spPr>
        <p:txBody>
          <a:bodyPr wrap="square" rtlCol="0">
            <a:spAutoFit/>
          </a:bodyPr>
          <a:lstStyle/>
          <a:p>
            <a:pPr>
              <a:buNone/>
            </a:pPr>
            <a:r>
              <a:rPr lang="en-IN" sz="2000" b="1" dirty="0">
                <a:latin typeface="Times New Roman" panose="02020603050405020304" pitchFamily="18" charset="0"/>
                <a:cs typeface="Times New Roman" panose="02020603050405020304" pitchFamily="18" charset="0"/>
              </a:rPr>
              <a:t>1. Data Collection</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Source</a:t>
            </a:r>
            <a:r>
              <a:rPr lang="en-IN" sz="2000" dirty="0">
                <a:latin typeface="Times New Roman" panose="02020603050405020304" pitchFamily="18" charset="0"/>
                <a:cs typeface="Times New Roman" panose="02020603050405020304" pitchFamily="18" charset="0"/>
              </a:rPr>
              <a:t>: Data is collected using public APIs and sample datasets from well-known blockchain explorers like </a:t>
            </a:r>
            <a:r>
              <a:rPr lang="en-IN" sz="2000" b="1" dirty="0" err="1">
                <a:latin typeface="Times New Roman" panose="02020603050405020304" pitchFamily="18" charset="0"/>
                <a:cs typeface="Times New Roman" panose="02020603050405020304" pitchFamily="18" charset="0"/>
              </a:rPr>
              <a:t>Etherscan</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Blockchain.com</a:t>
            </a:r>
            <a:r>
              <a:rPr lang="en-IN" sz="2000" dirty="0">
                <a:latin typeface="Times New Roman" panose="02020603050405020304" pitchFamily="18" charset="0"/>
                <a:cs typeface="Times New Roman" panose="02020603050405020304" pitchFamily="18" charset="0"/>
              </a:rPr>
              <a:t>, or </a:t>
            </a:r>
            <a:r>
              <a:rPr lang="en-IN" sz="2000" b="1" dirty="0" err="1">
                <a:latin typeface="Times New Roman" panose="02020603050405020304" pitchFamily="18" charset="0"/>
                <a:cs typeface="Times New Roman" panose="02020603050405020304" pitchFamily="18" charset="0"/>
              </a:rPr>
              <a:t>Blockchair</a:t>
            </a:r>
            <a:r>
              <a:rPr lang="en-IN"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Scope</a:t>
            </a:r>
            <a:r>
              <a:rPr lang="en-IN" sz="2000" dirty="0">
                <a:latin typeface="Times New Roman" panose="02020603050405020304" pitchFamily="18" charset="0"/>
                <a:cs typeface="Times New Roman" panose="02020603050405020304" pitchFamily="18" charset="0"/>
              </a:rPr>
              <a:t>: Includes transactional data (sender, receiver, value, gas fee, timestamp), wallet metadata, and block-level information.</a:t>
            </a:r>
          </a:p>
          <a:p>
            <a:pPr>
              <a:buNone/>
            </a:pPr>
            <a:r>
              <a:rPr lang="en-IN" sz="2000" b="1" dirty="0">
                <a:latin typeface="Times New Roman" panose="02020603050405020304" pitchFamily="18" charset="0"/>
                <a:cs typeface="Times New Roman" panose="02020603050405020304" pitchFamily="18" charset="0"/>
              </a:rPr>
              <a:t>2. Preprocessing</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Null Handling</a:t>
            </a:r>
            <a:r>
              <a:rPr lang="en-IN" sz="2000" dirty="0">
                <a:latin typeface="Times New Roman" panose="02020603050405020304" pitchFamily="18" charset="0"/>
                <a:cs typeface="Times New Roman" panose="02020603050405020304" pitchFamily="18" charset="0"/>
              </a:rPr>
              <a:t>: Removes or imputes missing values in transaction fields.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Standardization</a:t>
            </a:r>
            <a:r>
              <a:rPr lang="en-IN" sz="2000" dirty="0">
                <a:latin typeface="Times New Roman" panose="02020603050405020304" pitchFamily="18" charset="0"/>
                <a:cs typeface="Times New Roman" panose="02020603050405020304" pitchFamily="18" charset="0"/>
              </a:rPr>
              <a:t>: Converts all timestamps to a uniform format (e.g., UTC), and ensures consistency in cryptocurrency units (e.g., Wei to ETH).</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Outlier Filtering</a:t>
            </a:r>
            <a:r>
              <a:rPr lang="en-IN" sz="2000" dirty="0">
                <a:latin typeface="Times New Roman" panose="02020603050405020304" pitchFamily="18" charset="0"/>
                <a:cs typeface="Times New Roman" panose="02020603050405020304" pitchFamily="18" charset="0"/>
              </a:rPr>
              <a:t>: Initial filtering of known </a:t>
            </a:r>
            <a:r>
              <a:rPr lang="en-IN" sz="2000" dirty="0" err="1">
                <a:latin typeface="Times New Roman" panose="02020603050405020304" pitchFamily="18" charset="0"/>
                <a:cs typeface="Times New Roman" panose="02020603050405020304" pitchFamily="18" charset="0"/>
              </a:rPr>
              <a:t>testnet</a:t>
            </a:r>
            <a:r>
              <a:rPr lang="en-IN" sz="2000" dirty="0">
                <a:latin typeface="Times New Roman" panose="02020603050405020304" pitchFamily="18" charset="0"/>
                <a:cs typeface="Times New Roman" panose="02020603050405020304" pitchFamily="18" charset="0"/>
              </a:rPr>
              <a:t> addresses and synthetic data.</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Noise Reduction</a:t>
            </a:r>
            <a:r>
              <a:rPr lang="en-IN" sz="2000" dirty="0">
                <a:latin typeface="Times New Roman" panose="02020603050405020304" pitchFamily="18" charset="0"/>
                <a:cs typeface="Times New Roman" panose="02020603050405020304" pitchFamily="18" charset="0"/>
              </a:rPr>
              <a:t>: Elimination of low-impact micro-transactions not relevant to laundering patterns.</a:t>
            </a:r>
          </a:p>
          <a:p>
            <a:pPr>
              <a:buNone/>
            </a:pPr>
            <a:r>
              <a:rPr lang="en-US" b="1" dirty="0"/>
              <a:t>3. Feature Extraction</a:t>
            </a:r>
          </a:p>
          <a:p>
            <a:pPr>
              <a:buFont typeface="Arial" panose="020B0604020202020204" pitchFamily="34" charset="0"/>
              <a:buChar char="•"/>
            </a:pPr>
            <a:r>
              <a:rPr lang="en-US" b="1" dirty="0"/>
              <a:t>Behavioral Metrics</a:t>
            </a:r>
            <a:r>
              <a:rPr lang="en-US" dirty="0"/>
              <a:t>:</a:t>
            </a:r>
          </a:p>
          <a:p>
            <a:pPr marL="742950" lvl="1" indent="-285750">
              <a:buFont typeface="Arial" panose="020B0604020202020204" pitchFamily="34" charset="0"/>
              <a:buChar char="•"/>
            </a:pPr>
            <a:r>
              <a:rPr lang="en-US" b="1" dirty="0"/>
              <a:t>Transaction Frequency</a:t>
            </a:r>
            <a:r>
              <a:rPr lang="en-US" dirty="0"/>
              <a:t>: Number of transactions per wallet over time.</a:t>
            </a:r>
          </a:p>
          <a:p>
            <a:pPr marL="742950" lvl="1" indent="-285750">
              <a:buFont typeface="Arial" panose="020B0604020202020204" pitchFamily="34" charset="0"/>
              <a:buChar char="•"/>
            </a:pPr>
            <a:r>
              <a:rPr lang="en-US" b="1" dirty="0"/>
              <a:t>Volume Patterns</a:t>
            </a:r>
            <a:r>
              <a:rPr lang="en-US" dirty="0"/>
              <a:t>: Total and average transaction volume.</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F4343-B78B-4E0A-ABA6-58F950BC557C}"/>
              </a:ext>
            </a:extLst>
          </p:cNvPr>
          <p:cNvSpPr>
            <a:spLocks noGrp="1"/>
          </p:cNvSpPr>
          <p:nvPr>
            <p:ph idx="1"/>
          </p:nvPr>
        </p:nvSpPr>
        <p:spPr>
          <a:xfrm>
            <a:off x="757382" y="1045440"/>
            <a:ext cx="10928927" cy="4477905"/>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4. Model Training</a:t>
            </a:r>
          </a:p>
          <a:p>
            <a:pPr marL="0" indent="0">
              <a:buNone/>
            </a:pPr>
            <a:r>
              <a:rPr lang="en-IN" sz="1800" b="1" dirty="0">
                <a:latin typeface="Times New Roman" panose="02020603050405020304" pitchFamily="18" charset="0"/>
                <a:cs typeface="Times New Roman" panose="02020603050405020304" pitchFamily="18" charset="0"/>
              </a:rPr>
              <a:t>Algorithm Used</a:t>
            </a:r>
            <a:r>
              <a:rPr lang="en-IN" sz="1800" dirty="0">
                <a:latin typeface="Times New Roman" panose="02020603050405020304" pitchFamily="18" charset="0"/>
                <a:cs typeface="Times New Roman" panose="02020603050405020304" pitchFamily="18" charset="0"/>
              </a:rPr>
              <a:t>: Trains on </a:t>
            </a:r>
            <a:r>
              <a:rPr lang="en-IN" sz="1800" dirty="0" err="1">
                <a:latin typeface="Times New Roman" panose="02020603050405020304" pitchFamily="18" charset="0"/>
                <a:cs typeface="Times New Roman" panose="02020603050405020304" pitchFamily="18" charset="0"/>
              </a:rPr>
              <a:t>labeled</a:t>
            </a:r>
            <a:r>
              <a:rPr lang="en-IN" sz="1800" dirty="0">
                <a:latin typeface="Times New Roman" panose="02020603050405020304" pitchFamily="18" charset="0"/>
                <a:cs typeface="Times New Roman" panose="02020603050405020304" pitchFamily="18" charset="0"/>
              </a:rPr>
              <a:t> or semi-supervised data using algorithms like </a:t>
            </a:r>
            <a:r>
              <a:rPr lang="en-IN" sz="1800" b="1" dirty="0">
                <a:latin typeface="Times New Roman" panose="02020603050405020304" pitchFamily="18" charset="0"/>
                <a:cs typeface="Times New Roman" panose="02020603050405020304" pitchFamily="18" charset="0"/>
              </a:rPr>
              <a:t>Random Forest</a:t>
            </a:r>
            <a:r>
              <a:rPr lang="en-IN" sz="1800"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XGBoost</a:t>
            </a:r>
            <a:r>
              <a:rPr lang="en-IN" sz="1800" dirty="0">
                <a:latin typeface="Times New Roman" panose="02020603050405020304" pitchFamily="18" charset="0"/>
                <a:cs typeface="Times New Roman" panose="02020603050405020304" pitchFamily="18" charset="0"/>
              </a:rPr>
              <a:t>, or </a:t>
            </a:r>
            <a:r>
              <a:rPr lang="en-IN" sz="1800" b="1" dirty="0">
                <a:latin typeface="Times New Roman" panose="02020603050405020304" pitchFamily="18" charset="0"/>
                <a:cs typeface="Times New Roman" panose="02020603050405020304" pitchFamily="18" charset="0"/>
              </a:rPr>
              <a:t>Isolation Forest</a:t>
            </a:r>
            <a:r>
              <a:rPr lang="en-IN" sz="1800" dirty="0">
                <a:latin typeface="Times New Roman" panose="02020603050405020304" pitchFamily="18" charset="0"/>
                <a:cs typeface="Times New Roman" panose="02020603050405020304" pitchFamily="18" charset="0"/>
              </a:rPr>
              <a:t>.</a:t>
            </a:r>
          </a:p>
          <a:p>
            <a:pPr marL="0" indent="0">
              <a:buNone/>
            </a:pPr>
            <a:r>
              <a:rPr lang="en-IN" sz="1800" b="1" dirty="0" err="1">
                <a:latin typeface="Times New Roman" panose="02020603050405020304" pitchFamily="18" charset="0"/>
                <a:cs typeface="Times New Roman" panose="02020603050405020304" pitchFamily="18" charset="0"/>
              </a:rPr>
              <a:t>Labeling</a:t>
            </a:r>
            <a:r>
              <a:rPr lang="en-IN" sz="1800" dirty="0">
                <a:latin typeface="Times New Roman" panose="02020603050405020304" pitchFamily="18" charset="0"/>
                <a:cs typeface="Times New Roman" panose="02020603050405020304" pitchFamily="18" charset="0"/>
              </a:rPr>
              <a:t>: Uses known fraudulent addresses from datasets.</a:t>
            </a:r>
          </a:p>
          <a:p>
            <a:pPr marL="0" indent="0">
              <a:buNone/>
            </a:pPr>
            <a:r>
              <a:rPr lang="en-US" sz="1800" b="1" dirty="0">
                <a:latin typeface="Times New Roman" panose="02020603050405020304" pitchFamily="18" charset="0"/>
                <a:cs typeface="Times New Roman" panose="02020603050405020304" pitchFamily="18" charset="0"/>
              </a:rPr>
              <a:t>5. Anomaly Detection</a:t>
            </a:r>
          </a:p>
          <a:p>
            <a:pPr marL="0" indent="0">
              <a:buNone/>
            </a:pPr>
            <a:r>
              <a:rPr lang="en-US" sz="1800" b="1" dirty="0">
                <a:latin typeface="Times New Roman" panose="02020603050405020304" pitchFamily="18" charset="0"/>
                <a:cs typeface="Times New Roman" panose="02020603050405020304" pitchFamily="18" charset="0"/>
              </a:rPr>
              <a:t>Live Stream Monitoring</a:t>
            </a:r>
            <a:r>
              <a:rPr lang="en-US" sz="1800" dirty="0">
                <a:latin typeface="Times New Roman" panose="02020603050405020304" pitchFamily="18" charset="0"/>
                <a:cs typeface="Times New Roman" panose="02020603050405020304" pitchFamily="18" charset="0"/>
              </a:rPr>
              <a:t>: Continuously ingests data and flags real-time anomalies.</a:t>
            </a:r>
          </a:p>
          <a:p>
            <a:pPr marL="0" indent="0">
              <a:buNone/>
            </a:pPr>
            <a:r>
              <a:rPr lang="en-US" sz="1800" b="1" dirty="0">
                <a:latin typeface="Times New Roman" panose="02020603050405020304" pitchFamily="18" charset="0"/>
                <a:cs typeface="Times New Roman" panose="02020603050405020304" pitchFamily="18" charset="0"/>
              </a:rPr>
              <a:t>Indicators</a:t>
            </a:r>
            <a:r>
              <a:rPr lang="en-US" sz="1800" dirty="0">
                <a:latin typeface="Times New Roman" panose="02020603050405020304" pitchFamily="18" charset="0"/>
                <a:cs typeface="Times New Roman" panose="02020603050405020304" pitchFamily="18" charset="0"/>
              </a:rPr>
              <a:t>:</a:t>
            </a:r>
          </a:p>
          <a:p>
            <a:pPr marL="457200" lvl="1" indent="0">
              <a:buNone/>
            </a:pPr>
            <a:r>
              <a:rPr lang="en-US" sz="1800" dirty="0">
                <a:latin typeface="Times New Roman" panose="02020603050405020304" pitchFamily="18" charset="0"/>
                <a:cs typeface="Times New Roman" panose="02020603050405020304" pitchFamily="18" charset="0"/>
              </a:rPr>
              <a:t>Sudden large transfers</a:t>
            </a:r>
          </a:p>
          <a:p>
            <a:pPr marL="457200" lvl="1" indent="0">
              <a:buNone/>
            </a:pPr>
            <a:r>
              <a:rPr lang="en-US" sz="1800" dirty="0">
                <a:latin typeface="Times New Roman" panose="02020603050405020304" pitchFamily="18" charset="0"/>
                <a:cs typeface="Times New Roman" panose="02020603050405020304" pitchFamily="18" charset="0"/>
              </a:rPr>
              <a:t>Rapid circular transactions</a:t>
            </a:r>
          </a:p>
          <a:p>
            <a:pPr marL="457200" lvl="1" indent="0">
              <a:buNone/>
            </a:pPr>
            <a:r>
              <a:rPr lang="en-US" sz="1800" dirty="0">
                <a:latin typeface="Times New Roman" panose="02020603050405020304" pitchFamily="18" charset="0"/>
                <a:cs typeface="Times New Roman" panose="02020603050405020304" pitchFamily="18" charset="0"/>
              </a:rPr>
              <a:t>Fund dispersion into many smaller wallets (a sign of </a:t>
            </a:r>
            <a:r>
              <a:rPr lang="en-US" sz="1800" b="1" dirty="0">
                <a:latin typeface="Times New Roman" panose="02020603050405020304" pitchFamily="18" charset="0"/>
                <a:cs typeface="Times New Roman" panose="02020603050405020304" pitchFamily="18" charset="0"/>
              </a:rPr>
              <a:t>smurfing</a:t>
            </a:r>
            <a:r>
              <a:rPr lang="en-US" sz="1800" dirty="0">
                <a:latin typeface="Times New Roman" panose="02020603050405020304" pitchFamily="18" charset="0"/>
                <a:cs typeface="Times New Roman" panose="02020603050405020304" pitchFamily="18" charset="0"/>
              </a:rPr>
              <a:t>)</a:t>
            </a:r>
          </a:p>
          <a:p>
            <a:pPr marL="0" indent="0">
              <a:buNone/>
            </a:pPr>
            <a:r>
              <a:rPr lang="en-US" sz="1800" b="1" dirty="0">
                <a:latin typeface="Times New Roman" panose="02020603050405020304" pitchFamily="18" charset="0"/>
                <a:cs typeface="Times New Roman" panose="02020603050405020304" pitchFamily="18" charset="0"/>
              </a:rPr>
              <a:t>Scoring Engine</a:t>
            </a:r>
            <a:r>
              <a:rPr lang="en-US" sz="1800" dirty="0">
                <a:latin typeface="Times New Roman" panose="02020603050405020304" pitchFamily="18" charset="0"/>
                <a:cs typeface="Times New Roman" panose="02020603050405020304" pitchFamily="18" charset="0"/>
              </a:rPr>
              <a:t>: Assigns a risk score to each transaction or wallet based on deviation from normal behavior.</a:t>
            </a:r>
          </a:p>
          <a:p>
            <a:pPr marL="0" indent="0">
              <a:buNone/>
            </a:pPr>
            <a:r>
              <a:rPr lang="en-US" sz="1800" b="1" dirty="0">
                <a:latin typeface="Times New Roman" panose="02020603050405020304" pitchFamily="18" charset="0"/>
                <a:cs typeface="Times New Roman" panose="02020603050405020304" pitchFamily="18" charset="0"/>
              </a:rPr>
              <a:t>6. Reporting Module</a:t>
            </a:r>
          </a:p>
          <a:p>
            <a:pPr marL="0" indent="0">
              <a:buNone/>
            </a:pPr>
            <a:r>
              <a:rPr lang="en-US" sz="1800" b="1" dirty="0">
                <a:latin typeface="Times New Roman" panose="02020603050405020304" pitchFamily="18" charset="0"/>
                <a:cs typeface="Times New Roman" panose="02020603050405020304" pitchFamily="18" charset="0"/>
              </a:rPr>
              <a:t>Dashboard</a:t>
            </a:r>
            <a:r>
              <a:rPr lang="en-US" sz="1800" dirty="0">
                <a:latin typeface="Times New Roman" panose="02020603050405020304" pitchFamily="18" charset="0"/>
                <a:cs typeface="Times New Roman" panose="02020603050405020304" pitchFamily="18" charset="0"/>
              </a:rPr>
              <a:t>: Visual summaries of detected fraud, transaction volumes, and high-risk wallets.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7" name="Right Triangle 1">
            <a:extLst>
              <a:ext uri="{FF2B5EF4-FFF2-40B4-BE49-F238E27FC236}">
                <a16:creationId xmlns:a16="http://schemas.microsoft.com/office/drawing/2014/main" id="{9DE096F5-089A-19C5-8F3A-30945512499D}"/>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Shape 2">
            <a:extLst>
              <a:ext uri="{FF2B5EF4-FFF2-40B4-BE49-F238E27FC236}">
                <a16:creationId xmlns:a16="http://schemas.microsoft.com/office/drawing/2014/main" id="{31AD227A-27A8-8C2A-0322-A2D62AD4439B}"/>
              </a:ext>
            </a:extLst>
          </p:cNvPr>
          <p:cNvSpPr/>
          <p:nvPr/>
        </p:nvSpPr>
        <p:spPr>
          <a:xfrm rot="10800000">
            <a:off x="10971869" y="-2592"/>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TextBox 8">
            <a:extLst>
              <a:ext uri="{FF2B5EF4-FFF2-40B4-BE49-F238E27FC236}">
                <a16:creationId xmlns:a16="http://schemas.microsoft.com/office/drawing/2014/main" id="{65C2216F-3856-CD3D-7CA7-806310FC6282}"/>
              </a:ext>
            </a:extLst>
          </p:cNvPr>
          <p:cNvSpPr txBox="1"/>
          <p:nvPr/>
        </p:nvSpPr>
        <p:spPr>
          <a:xfrm>
            <a:off x="757382" y="138545"/>
            <a:ext cx="2505879" cy="369332"/>
          </a:xfrm>
          <a:prstGeom prst="rect">
            <a:avLst/>
          </a:prstGeom>
          <a:noFill/>
        </p:spPr>
        <p:txBody>
          <a:bodyPr wrap="none" rtlCol="0">
            <a:spAutoFit/>
          </a:bodyPr>
          <a:lstStyle/>
          <a:p>
            <a:r>
              <a:rPr lang="en-US" b="1" dirty="0"/>
              <a:t>CS8811-PROJECT WORK </a:t>
            </a:r>
            <a:endParaRPr lang="en-IN" b="1" dirty="0"/>
          </a:p>
        </p:txBody>
      </p:sp>
      <p:sp>
        <p:nvSpPr>
          <p:cNvPr id="11" name="TextBox 10">
            <a:extLst>
              <a:ext uri="{FF2B5EF4-FFF2-40B4-BE49-F238E27FC236}">
                <a16:creationId xmlns:a16="http://schemas.microsoft.com/office/drawing/2014/main" id="{8C9A8FD8-33B7-02BA-D08E-69797990554E}"/>
              </a:ext>
            </a:extLst>
          </p:cNvPr>
          <p:cNvSpPr txBox="1"/>
          <p:nvPr/>
        </p:nvSpPr>
        <p:spPr>
          <a:xfrm>
            <a:off x="181519" y="6499624"/>
            <a:ext cx="10517363" cy="923330"/>
          </a:xfrm>
          <a:prstGeom prst="rect">
            <a:avLst/>
          </a:prstGeom>
          <a:noFill/>
        </p:spPr>
        <p:txBody>
          <a:bodyPr wrap="square">
            <a:spAutoFit/>
          </a:bodyPr>
          <a:lstStyle/>
          <a:p>
            <a:r>
              <a:rPr lang="en-US" b="1" dirty="0"/>
              <a:t>DEPARTMENT OF CSE								14/05/2025</a:t>
            </a:r>
          </a:p>
          <a:p>
            <a:endParaRPr lang="en-US" b="1" dirty="0"/>
          </a:p>
          <a:p>
            <a:endParaRPr lang="en-US" dirty="0"/>
          </a:p>
        </p:txBody>
      </p:sp>
    </p:spTree>
    <p:extLst>
      <p:ext uri="{BB962C8B-B14F-4D97-AF65-F5344CB8AC3E}">
        <p14:creationId xmlns:p14="http://schemas.microsoft.com/office/powerpoint/2010/main" val="1266270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91"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92"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95" name="TextBox 5"/>
          <p:cNvSpPr txBox="1"/>
          <p:nvPr/>
        </p:nvSpPr>
        <p:spPr>
          <a:xfrm>
            <a:off x="968521" y="508914"/>
            <a:ext cx="6528021" cy="830997"/>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endParaRPr lang="en-US" sz="2400" b="1" dirty="0">
              <a:latin typeface="Times New Roman" panose="02020603050405020304" pitchFamily="18" charset="0"/>
              <a:cs typeface="Times New Roman" panose="02020603050405020304" pitchFamily="18" charset="0"/>
            </a:endParaRPr>
          </a:p>
        </p:txBody>
      </p:sp>
      <p:sp>
        <p:nvSpPr>
          <p:cNvPr id="1048696"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97"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4" name="TextBox 3">
            <a:extLst>
              <a:ext uri="{FF2B5EF4-FFF2-40B4-BE49-F238E27FC236}">
                <a16:creationId xmlns:a16="http://schemas.microsoft.com/office/drawing/2014/main" id="{E09E71A7-BBCD-D435-62C8-4DCDDC3C6A9D}"/>
              </a:ext>
            </a:extLst>
          </p:cNvPr>
          <p:cNvSpPr txBox="1"/>
          <p:nvPr/>
        </p:nvSpPr>
        <p:spPr>
          <a:xfrm>
            <a:off x="1764145" y="1681018"/>
            <a:ext cx="6599884" cy="4307398"/>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labeled crypto transaction dataset (Bitcoin/Ethereum).</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ML models: Random Forest, Decision Trees.</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Graphs to detect smurfing and layering paths.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accuracy tested using confusion matrix &amp; ROC.</a:t>
            </a:r>
            <a:endParaRPr lang="en-IN" sz="20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Alerting system flags suspicious addresses in real-time.</a:t>
            </a:r>
            <a:endParaRPr lang="en-IN" sz="2000"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Integrated cryptographic hash for integrity check.</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Flask used for UI and dashboard display.</a:t>
            </a:r>
            <a:r>
              <a:rPr lang="en-IN"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699"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00"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2" name="TextBox 5"/>
          <p:cNvSpPr txBox="1"/>
          <p:nvPr/>
        </p:nvSpPr>
        <p:spPr>
          <a:xfrm>
            <a:off x="617748" y="630794"/>
            <a:ext cx="6528021" cy="302968"/>
          </a:xfrm>
          <a:prstGeom prst="rect">
            <a:avLst/>
          </a:prstGeom>
          <a:noFill/>
        </p:spPr>
        <p:txBody>
          <a:bodyPr wrap="square" rtlCol="0">
            <a:spAutoFit/>
          </a:bodyPr>
          <a:lstStyle/>
          <a:p>
            <a:pPr algn="just">
              <a:lnSpc>
                <a:spcPct val="50000"/>
              </a:lnSpc>
            </a:pPr>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FUTURE SCOPE</a:t>
            </a:r>
          </a:p>
        </p:txBody>
      </p:sp>
      <p:sp>
        <p:nvSpPr>
          <p:cNvPr id="1048703"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04"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TextBox 1">
            <a:extLst>
              <a:ext uri="{FF2B5EF4-FFF2-40B4-BE49-F238E27FC236}">
                <a16:creationId xmlns:a16="http://schemas.microsoft.com/office/drawing/2014/main" id="{0847975A-470E-4FFD-71A4-4CE1F518A9D4}"/>
              </a:ext>
            </a:extLst>
          </p:cNvPr>
          <p:cNvSpPr txBox="1"/>
          <p:nvPr/>
        </p:nvSpPr>
        <p:spPr>
          <a:xfrm>
            <a:off x="1699491" y="1745673"/>
            <a:ext cx="6946132" cy="4307398"/>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support for privacy-focused coins with enhanced tracking.</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Expand to include smart contract for AML auditing.</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Integrate exchange APIs for live monitoring.</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deep learning for behavioral pattern prediction.</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Offer system as cloud-based SaaS for financial firms.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Explore federated learning for data privacy.</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Collaborate with regulators for real-world deployment.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706"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07"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8" name="Title 1"/>
          <p:cNvSpPr>
            <a:spLocks noGrp="1"/>
          </p:cNvSpPr>
          <p:nvPr>
            <p:ph type="ctrTitle"/>
          </p:nvPr>
        </p:nvSpPr>
        <p:spPr/>
        <p:txBody>
          <a:bodyPr/>
          <a:lstStyle/>
          <a:p>
            <a:r>
              <a:rPr lang="en-US" dirty="0"/>
              <a:t> </a:t>
            </a:r>
          </a:p>
        </p:txBody>
      </p:sp>
      <p:sp>
        <p:nvSpPr>
          <p:cNvPr id="1048709" name="TextBox 5"/>
          <p:cNvSpPr txBox="1"/>
          <p:nvPr/>
        </p:nvSpPr>
        <p:spPr>
          <a:xfrm>
            <a:off x="617748" y="630794"/>
            <a:ext cx="6528021" cy="302968"/>
          </a:xfrm>
          <a:prstGeom prst="rect">
            <a:avLst/>
          </a:prstGeom>
          <a:noFill/>
        </p:spPr>
        <p:txBody>
          <a:bodyPr wrap="square" rtlCol="0">
            <a:spAutoFit/>
          </a:bodyPr>
          <a:lstStyle/>
          <a:p>
            <a:pPr algn="just">
              <a:lnSpc>
                <a:spcPct val="50000"/>
              </a:lnSpc>
            </a:pPr>
            <a:r>
              <a:rPr lang="en-US" sz="2400" b="1" kern="12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REFERENCES</a:t>
            </a:r>
            <a:endPar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48710"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11"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6" name="TextBox 5">
            <a:extLst>
              <a:ext uri="{FF2B5EF4-FFF2-40B4-BE49-F238E27FC236}">
                <a16:creationId xmlns:a16="http://schemas.microsoft.com/office/drawing/2014/main" id="{2C36B97F-EA94-0AA8-C6CB-7668F11A4AE5}"/>
              </a:ext>
            </a:extLst>
          </p:cNvPr>
          <p:cNvSpPr txBox="1"/>
          <p:nvPr/>
        </p:nvSpPr>
        <p:spPr>
          <a:xfrm>
            <a:off x="738909" y="1122363"/>
            <a:ext cx="10790966" cy="4922951"/>
          </a:xfrm>
          <a:prstGeom prst="rect">
            <a:avLst/>
          </a:prstGeom>
          <a:noFill/>
        </p:spPr>
        <p:txBody>
          <a:bodyPr wrap="square" rtlCol="0">
            <a:spAutoFit/>
          </a:bodyPr>
          <a:lstStyle/>
          <a:p>
            <a:pPr marL="342900" indent="-342900">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S. Nawaz and H. Ghous, "Detection of Money Laundering Using Data Mining Models: A Review," </a:t>
            </a:r>
            <a:r>
              <a:rPr lang="en-US" sz="2000" i="1" dirty="0">
                <a:latin typeface="Times New Roman" panose="02020603050405020304" pitchFamily="18" charset="0"/>
                <a:cs typeface="Times New Roman" panose="02020603050405020304" pitchFamily="18" charset="0"/>
              </a:rPr>
              <a:t>International Journal of Computer Applications</a:t>
            </a:r>
            <a:r>
              <a:rPr lang="en-US" sz="2000" dirty="0">
                <a:latin typeface="Times New Roman" panose="02020603050405020304" pitchFamily="18" charset="0"/>
                <a:cs typeface="Times New Roman" panose="02020603050405020304" pitchFamily="18" charset="0"/>
              </a:rPr>
              <a:t>, vol. 180, no. 18, pp. 1–6, Feb. 2018.</a:t>
            </a:r>
          </a:p>
          <a:p>
            <a:pPr marL="342900" indent="-342900">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H. Shih, Y. Hsu, and W. Wu, "A Machine Learning Approach for Anti-Money Laundering Detection," in </a:t>
            </a:r>
            <a:r>
              <a:rPr lang="en-US" sz="2000" i="1" dirty="0">
                <a:latin typeface="Times New Roman" panose="02020603050405020304" pitchFamily="18" charset="0"/>
                <a:cs typeface="Times New Roman" panose="02020603050405020304" pitchFamily="18" charset="0"/>
              </a:rPr>
              <a:t>Proc. IEEE Int. Conf. Big Data (Big Data)</a:t>
            </a:r>
            <a:r>
              <a:rPr lang="en-US" sz="2000" dirty="0">
                <a:latin typeface="Times New Roman" panose="02020603050405020304" pitchFamily="18" charset="0"/>
                <a:cs typeface="Times New Roman" panose="02020603050405020304" pitchFamily="18" charset="0"/>
              </a:rPr>
              <a:t>, 2019, pp. 5303–5305.</a:t>
            </a:r>
          </a:p>
          <a:p>
            <a:pPr marL="342900" indent="-342900">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Y. Zhang, Z. Jiang, and M. Wang, "Cryptocurrency and Anti-Money Laundering: Challenges and Solutions," </a:t>
            </a:r>
            <a:r>
              <a:rPr lang="en-US" sz="2000" i="1" dirty="0">
                <a:latin typeface="Times New Roman" panose="02020603050405020304" pitchFamily="18" charset="0"/>
                <a:cs typeface="Times New Roman" panose="02020603050405020304" pitchFamily="18" charset="0"/>
              </a:rPr>
              <a:t>IEEE Access</a:t>
            </a:r>
            <a:r>
              <a:rPr lang="en-US" sz="2000" dirty="0">
                <a:latin typeface="Times New Roman" panose="02020603050405020304" pitchFamily="18" charset="0"/>
                <a:cs typeface="Times New Roman" panose="02020603050405020304" pitchFamily="18" charset="0"/>
              </a:rPr>
              <a:t>, vol. 8, pp. 169746–169755, 2020.</a:t>
            </a:r>
          </a:p>
          <a:p>
            <a:pPr marL="342900" indent="-3429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H. Liao, K. Wu, and S. Yang, "AI-Powered Money Laundering Detection in Financial Transactions," </a:t>
            </a:r>
            <a:r>
              <a:rPr lang="en-IN" sz="2000" i="1" dirty="0">
                <a:latin typeface="Times New Roman" panose="02020603050405020304" pitchFamily="18" charset="0"/>
                <a:cs typeface="Times New Roman" panose="02020603050405020304" pitchFamily="18" charset="0"/>
              </a:rPr>
              <a:t>IEEE Transactions on Computational Social Systems</a:t>
            </a:r>
            <a:r>
              <a:rPr lang="en-IN" sz="2000" dirty="0">
                <a:latin typeface="Times New Roman" panose="02020603050405020304" pitchFamily="18" charset="0"/>
                <a:cs typeface="Times New Roman" panose="02020603050405020304" pitchFamily="18" charset="0"/>
              </a:rPr>
              <a:t>, vol. 8, no. 2, pp. 345–356, Apr. 2021.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713"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14"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5" name="Title 1"/>
          <p:cNvSpPr>
            <a:spLocks noGrp="1"/>
          </p:cNvSpPr>
          <p:nvPr>
            <p:ph type="ctrTitle"/>
          </p:nvPr>
        </p:nvSpPr>
        <p:spPr/>
        <p:txBody>
          <a:bodyPr/>
          <a:lstStyle/>
          <a:p>
            <a:r>
              <a:rPr lang="en-US" dirty="0"/>
              <a:t> </a:t>
            </a:r>
          </a:p>
        </p:txBody>
      </p:sp>
      <p:sp>
        <p:nvSpPr>
          <p:cNvPr id="1048716" name="TextBox 5"/>
          <p:cNvSpPr txBox="1"/>
          <p:nvPr/>
        </p:nvSpPr>
        <p:spPr>
          <a:xfrm>
            <a:off x="617748" y="630794"/>
            <a:ext cx="6528021" cy="302968"/>
          </a:xfrm>
          <a:prstGeom prst="rect">
            <a:avLst/>
          </a:prstGeom>
          <a:noFill/>
        </p:spPr>
        <p:txBody>
          <a:bodyPr wrap="square" rtlCol="0">
            <a:spAutoFit/>
          </a:bodyPr>
          <a:lstStyle/>
          <a:p>
            <a:pPr algn="just">
              <a:lnSpc>
                <a:spcPct val="50000"/>
              </a:lnSpc>
            </a:pPr>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CONCLUSION</a:t>
            </a:r>
          </a:p>
        </p:txBody>
      </p:sp>
      <p:sp>
        <p:nvSpPr>
          <p:cNvPr id="1048717"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18"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TextBox 1">
            <a:extLst>
              <a:ext uri="{FF2B5EF4-FFF2-40B4-BE49-F238E27FC236}">
                <a16:creationId xmlns:a16="http://schemas.microsoft.com/office/drawing/2014/main" id="{1A54535A-32F1-79E4-3E79-321A8E89A45C}"/>
              </a:ext>
            </a:extLst>
          </p:cNvPr>
          <p:cNvSpPr txBox="1"/>
          <p:nvPr/>
        </p:nvSpPr>
        <p:spPr>
          <a:xfrm>
            <a:off x="1690255" y="1791855"/>
            <a:ext cx="8626763" cy="369184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bridges the gap between traditional AML methods and modern crypto-financial complexities.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Demonstrates potential of AI &amp; ML in financial fraud detection.</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Offers a scalable, real-time, and secure approach.</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Contributes towards global efforts in safeguarding financial ecosystems from illicit activities.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720"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21" name="Title 1"/>
          <p:cNvSpPr>
            <a:spLocks noGrp="1"/>
          </p:cNvSpPr>
          <p:nvPr>
            <p:ph type="ctrTitle"/>
          </p:nvPr>
        </p:nvSpPr>
        <p:spPr/>
        <p:txBody>
          <a:bodyPr/>
          <a:lstStyle/>
          <a:p>
            <a:r>
              <a:rPr lang="en-US" dirty="0"/>
              <a:t> </a:t>
            </a:r>
          </a:p>
        </p:txBody>
      </p:sp>
      <p:sp>
        <p:nvSpPr>
          <p:cNvPr id="1048722" name="TextBox 5"/>
          <p:cNvSpPr txBox="1"/>
          <p:nvPr/>
        </p:nvSpPr>
        <p:spPr>
          <a:xfrm>
            <a:off x="3468328" y="3114784"/>
            <a:ext cx="6528021" cy="566245"/>
          </a:xfrm>
          <a:prstGeom prst="rect">
            <a:avLst/>
          </a:prstGeom>
          <a:noFill/>
        </p:spPr>
        <p:txBody>
          <a:bodyPr wrap="square" rtlCol="0">
            <a:spAutoFit/>
          </a:bodyPr>
          <a:lstStyle/>
          <a:p>
            <a:pPr algn="just">
              <a:lnSpc>
                <a:spcPct val="50000"/>
              </a:lnSpc>
            </a:pPr>
            <a:r>
              <a:rPr lang="en-US" sz="5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THANK YOU</a:t>
            </a:r>
          </a:p>
        </p:txBody>
      </p:sp>
      <p:sp>
        <p:nvSpPr>
          <p:cNvPr id="1048723"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24"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1568</Words>
  <Application>Microsoft Office PowerPoint</Application>
  <PresentationFormat>Widescreen</PresentationFormat>
  <Paragraphs>189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Times New Roman</vt:lpstr>
      <vt:lpstr>Wingdings</vt:lpstr>
      <vt:lpstr>Office Theme</vt:lpstr>
      <vt:lpstr>PowerPoint Presentation</vt:lpstr>
      <vt:lpstr>AGENDA </vt:lpstr>
      <vt:lpstr>PowerPoint Presentation</vt:lpstr>
      <vt:lpstr>PowerPoint Presentation</vt:lpstr>
      <vt:lpstr> </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HUAWEI</dc:creator>
  <cp:lastModifiedBy>Vijayakumar Venkatesan</cp:lastModifiedBy>
  <cp:revision>1</cp:revision>
  <dcterms:created xsi:type="dcterms:W3CDTF">2025-04-29T07:26:27Z</dcterms:created>
  <dcterms:modified xsi:type="dcterms:W3CDTF">2025-05-13T14:58:55Z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e00213ec927047eb9d2ac0c129297eaa</vt:lpwstr>
  </property>
</Properties>
</file>